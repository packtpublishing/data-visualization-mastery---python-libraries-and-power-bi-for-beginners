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7" r:id="rId3"/>
    <p:sldId id="261" r:id="rId4"/>
    <p:sldId id="264" r:id="rId5"/>
    <p:sldId id="266" r:id="rId6"/>
    <p:sldId id="268" r:id="rId7"/>
    <p:sldId id="256" r:id="rId8"/>
    <p:sldId id="257" r:id="rId9"/>
    <p:sldId id="258" r:id="rId10"/>
    <p:sldId id="259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94660"/>
  </p:normalViewPr>
  <p:slideViewPr>
    <p:cSldViewPr snapToGrid="0">
      <p:cViewPr>
        <p:scale>
          <a:sx n="85" d="100"/>
          <a:sy n="85" d="100"/>
        </p:scale>
        <p:origin x="440" y="2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533F9D-0F75-4618-B2A1-21D0132F2CB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55081DC-5C44-456B-8212-755626A562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Avoiding Data Redundancy</a:t>
          </a:r>
          <a:endParaRPr lang="en-US"/>
        </a:p>
      </dgm:t>
    </dgm:pt>
    <dgm:pt modelId="{DC077C93-6D1F-400A-86AF-890C1FD6C29E}" type="parTrans" cxnId="{9FDC4367-1666-4C66-8C7F-6F91CA7F7E8E}">
      <dgm:prSet/>
      <dgm:spPr/>
      <dgm:t>
        <a:bodyPr/>
        <a:lstStyle/>
        <a:p>
          <a:endParaRPr lang="en-US"/>
        </a:p>
      </dgm:t>
    </dgm:pt>
    <dgm:pt modelId="{C3F0D18E-106C-46E2-847E-4220EE6B4027}" type="sibTrans" cxnId="{9FDC4367-1666-4C66-8C7F-6F91CA7F7E8E}">
      <dgm:prSet/>
      <dgm:spPr/>
      <dgm:t>
        <a:bodyPr/>
        <a:lstStyle/>
        <a:p>
          <a:endParaRPr lang="en-US"/>
        </a:p>
      </dgm:t>
    </dgm:pt>
    <dgm:pt modelId="{38FF4104-5F4D-4E04-9CFD-285E256E553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Without relationships, data must be repeated in multiple places, leading to inefficiencies and inconsistencies.</a:t>
          </a:r>
        </a:p>
      </dgm:t>
    </dgm:pt>
    <dgm:pt modelId="{6E21CB9D-65C3-4B7C-9797-985E65A5DB3E}" type="parTrans" cxnId="{A67EA740-F995-49B8-B91D-85CB6F8732E3}">
      <dgm:prSet/>
      <dgm:spPr/>
      <dgm:t>
        <a:bodyPr/>
        <a:lstStyle/>
        <a:p>
          <a:endParaRPr lang="en-US"/>
        </a:p>
      </dgm:t>
    </dgm:pt>
    <dgm:pt modelId="{BD834001-3FB1-4DA8-8676-E124FCD21E10}" type="sibTrans" cxnId="{A67EA740-F995-49B8-B91D-85CB6F8732E3}">
      <dgm:prSet/>
      <dgm:spPr/>
      <dgm:t>
        <a:bodyPr/>
        <a:lstStyle/>
        <a:p>
          <a:endParaRPr lang="en-US"/>
        </a:p>
      </dgm:t>
    </dgm:pt>
    <dgm:pt modelId="{5A06507F-6864-4CEB-B193-B218D7C0C42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Example</a:t>
          </a:r>
          <a:r>
            <a:rPr lang="en-US"/>
            <a:t>: Instead of storing a customer's information in every sales transaction, a </a:t>
          </a:r>
          <a:r>
            <a:rPr lang="en-US" b="1"/>
            <a:t>Customer ID</a:t>
          </a:r>
          <a:r>
            <a:rPr lang="en-US"/>
            <a:t> can </a:t>
          </a:r>
          <a:r>
            <a:rPr lang="en-US" u="sng"/>
            <a:t>link</a:t>
          </a:r>
          <a:r>
            <a:rPr lang="en-US"/>
            <a:t> transactions to a </a:t>
          </a:r>
          <a:r>
            <a:rPr lang="en-US" i="1"/>
            <a:t>central</a:t>
          </a:r>
          <a:r>
            <a:rPr lang="en-US"/>
            <a:t> customer table.</a:t>
          </a:r>
        </a:p>
      </dgm:t>
    </dgm:pt>
    <dgm:pt modelId="{A831563E-BE21-4363-A695-B7F99B2BA601}" type="parTrans" cxnId="{46822BA8-8D49-4CF4-8A83-41CFDC3892A8}">
      <dgm:prSet/>
      <dgm:spPr/>
      <dgm:t>
        <a:bodyPr/>
        <a:lstStyle/>
        <a:p>
          <a:endParaRPr lang="en-US"/>
        </a:p>
      </dgm:t>
    </dgm:pt>
    <dgm:pt modelId="{9950C66E-8152-4FF4-8449-C20EF0F2A06A}" type="sibTrans" cxnId="{46822BA8-8D49-4CF4-8A83-41CFDC3892A8}">
      <dgm:prSet/>
      <dgm:spPr/>
      <dgm:t>
        <a:bodyPr/>
        <a:lstStyle/>
        <a:p>
          <a:endParaRPr lang="en-US"/>
        </a:p>
      </dgm:t>
    </dgm:pt>
    <dgm:pt modelId="{653C700E-7DA4-45ED-8FA4-975079905F13}" type="pres">
      <dgm:prSet presAssocID="{DE533F9D-0F75-4618-B2A1-21D0132F2CB4}" presName="root" presStyleCnt="0">
        <dgm:presLayoutVars>
          <dgm:dir/>
          <dgm:resizeHandles val="exact"/>
        </dgm:presLayoutVars>
      </dgm:prSet>
      <dgm:spPr/>
    </dgm:pt>
    <dgm:pt modelId="{72EF7D6D-80B1-4B44-8B2C-98D67CEE1812}" type="pres">
      <dgm:prSet presAssocID="{055081DC-5C44-456B-8212-755626A562DA}" presName="compNode" presStyleCnt="0"/>
      <dgm:spPr/>
    </dgm:pt>
    <dgm:pt modelId="{7D5D466F-8580-48FA-B979-AF6B30A05B21}" type="pres">
      <dgm:prSet presAssocID="{055081DC-5C44-456B-8212-755626A562DA}" presName="bgRect" presStyleLbl="bgShp" presStyleIdx="0" presStyleCnt="3"/>
      <dgm:spPr/>
    </dgm:pt>
    <dgm:pt modelId="{87C96F0B-FEAA-424C-9B40-6524D0165201}" type="pres">
      <dgm:prSet presAssocID="{055081DC-5C44-456B-8212-755626A562D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05F97C6-69F0-486E-9FF5-83269227F5AE}" type="pres">
      <dgm:prSet presAssocID="{055081DC-5C44-456B-8212-755626A562DA}" presName="spaceRect" presStyleCnt="0"/>
      <dgm:spPr/>
    </dgm:pt>
    <dgm:pt modelId="{FCDA37AB-30E8-4986-AA4E-1BC8A91E3713}" type="pres">
      <dgm:prSet presAssocID="{055081DC-5C44-456B-8212-755626A562DA}" presName="parTx" presStyleLbl="revTx" presStyleIdx="0" presStyleCnt="3">
        <dgm:presLayoutVars>
          <dgm:chMax val="0"/>
          <dgm:chPref val="0"/>
        </dgm:presLayoutVars>
      </dgm:prSet>
      <dgm:spPr/>
    </dgm:pt>
    <dgm:pt modelId="{9A3DBCBA-6511-47B3-963F-B09DA453591D}" type="pres">
      <dgm:prSet presAssocID="{C3F0D18E-106C-46E2-847E-4220EE6B4027}" presName="sibTrans" presStyleCnt="0"/>
      <dgm:spPr/>
    </dgm:pt>
    <dgm:pt modelId="{C847FAAB-5C35-4711-A16E-5CC224D30CCA}" type="pres">
      <dgm:prSet presAssocID="{38FF4104-5F4D-4E04-9CFD-285E256E5530}" presName="compNode" presStyleCnt="0"/>
      <dgm:spPr/>
    </dgm:pt>
    <dgm:pt modelId="{603AA2B1-A944-4EB2-9E21-2E5DC23FC350}" type="pres">
      <dgm:prSet presAssocID="{38FF4104-5F4D-4E04-9CFD-285E256E5530}" presName="bgRect" presStyleLbl="bgShp" presStyleIdx="1" presStyleCnt="3"/>
      <dgm:spPr/>
    </dgm:pt>
    <dgm:pt modelId="{4D7CEA8D-9BAB-45F3-AE8E-85D318D22FA8}" type="pres">
      <dgm:prSet presAssocID="{38FF4104-5F4D-4E04-9CFD-285E256E553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BA343292-8EB1-4C27-9C17-B9A8AE53F80E}" type="pres">
      <dgm:prSet presAssocID="{38FF4104-5F4D-4E04-9CFD-285E256E5530}" presName="spaceRect" presStyleCnt="0"/>
      <dgm:spPr/>
    </dgm:pt>
    <dgm:pt modelId="{18E1CEB5-A357-49F0-834B-1600ABFF70BD}" type="pres">
      <dgm:prSet presAssocID="{38FF4104-5F4D-4E04-9CFD-285E256E5530}" presName="parTx" presStyleLbl="revTx" presStyleIdx="1" presStyleCnt="3">
        <dgm:presLayoutVars>
          <dgm:chMax val="0"/>
          <dgm:chPref val="0"/>
        </dgm:presLayoutVars>
      </dgm:prSet>
      <dgm:spPr/>
    </dgm:pt>
    <dgm:pt modelId="{736592A2-2B69-4B25-A53F-00152C29A056}" type="pres">
      <dgm:prSet presAssocID="{BD834001-3FB1-4DA8-8676-E124FCD21E10}" presName="sibTrans" presStyleCnt="0"/>
      <dgm:spPr/>
    </dgm:pt>
    <dgm:pt modelId="{2FB22C70-B8D3-453B-9D4E-2E9D3BF55D0E}" type="pres">
      <dgm:prSet presAssocID="{5A06507F-6864-4CEB-B193-B218D7C0C423}" presName="compNode" presStyleCnt="0"/>
      <dgm:spPr/>
    </dgm:pt>
    <dgm:pt modelId="{56F83C96-B8EE-4B93-85FE-9093D2E1C80E}" type="pres">
      <dgm:prSet presAssocID="{5A06507F-6864-4CEB-B193-B218D7C0C423}" presName="bgRect" presStyleLbl="bgShp" presStyleIdx="2" presStyleCnt="3"/>
      <dgm:spPr/>
    </dgm:pt>
    <dgm:pt modelId="{77B02985-E493-4E73-B15D-9765D53241A2}" type="pres">
      <dgm:prSet presAssocID="{5A06507F-6864-4CEB-B193-B218D7C0C42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0679CAF-5D47-44DE-8A12-94654D24B1CF}" type="pres">
      <dgm:prSet presAssocID="{5A06507F-6864-4CEB-B193-B218D7C0C423}" presName="spaceRect" presStyleCnt="0"/>
      <dgm:spPr/>
    </dgm:pt>
    <dgm:pt modelId="{23EDF922-D3B3-4A5A-8DA3-6BDB04A4CDF0}" type="pres">
      <dgm:prSet presAssocID="{5A06507F-6864-4CEB-B193-B218D7C0C423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CC4DD31-8A75-4CB0-A14E-A84E2BABD215}" type="presOf" srcId="{DE533F9D-0F75-4618-B2A1-21D0132F2CB4}" destId="{653C700E-7DA4-45ED-8FA4-975079905F13}" srcOrd="0" destOrd="0" presId="urn:microsoft.com/office/officeart/2018/2/layout/IconVerticalSolidList"/>
    <dgm:cxn modelId="{A67EA740-F995-49B8-B91D-85CB6F8732E3}" srcId="{DE533F9D-0F75-4618-B2A1-21D0132F2CB4}" destId="{38FF4104-5F4D-4E04-9CFD-285E256E5530}" srcOrd="1" destOrd="0" parTransId="{6E21CB9D-65C3-4B7C-9797-985E65A5DB3E}" sibTransId="{BD834001-3FB1-4DA8-8676-E124FCD21E10}"/>
    <dgm:cxn modelId="{28220C5C-6A06-47C9-9CC2-C8D498812F8E}" type="presOf" srcId="{38FF4104-5F4D-4E04-9CFD-285E256E5530}" destId="{18E1CEB5-A357-49F0-834B-1600ABFF70BD}" srcOrd="0" destOrd="0" presId="urn:microsoft.com/office/officeart/2018/2/layout/IconVerticalSolidList"/>
    <dgm:cxn modelId="{9FDC4367-1666-4C66-8C7F-6F91CA7F7E8E}" srcId="{DE533F9D-0F75-4618-B2A1-21D0132F2CB4}" destId="{055081DC-5C44-456B-8212-755626A562DA}" srcOrd="0" destOrd="0" parTransId="{DC077C93-6D1F-400A-86AF-890C1FD6C29E}" sibTransId="{C3F0D18E-106C-46E2-847E-4220EE6B4027}"/>
    <dgm:cxn modelId="{8A8E367A-76B6-476E-AD49-B9480B650D1E}" type="presOf" srcId="{055081DC-5C44-456B-8212-755626A562DA}" destId="{FCDA37AB-30E8-4986-AA4E-1BC8A91E3713}" srcOrd="0" destOrd="0" presId="urn:microsoft.com/office/officeart/2018/2/layout/IconVerticalSolidList"/>
    <dgm:cxn modelId="{46822BA8-8D49-4CF4-8A83-41CFDC3892A8}" srcId="{DE533F9D-0F75-4618-B2A1-21D0132F2CB4}" destId="{5A06507F-6864-4CEB-B193-B218D7C0C423}" srcOrd="2" destOrd="0" parTransId="{A831563E-BE21-4363-A695-B7F99B2BA601}" sibTransId="{9950C66E-8152-4FF4-8449-C20EF0F2A06A}"/>
    <dgm:cxn modelId="{697D5CEF-75AC-4069-A5DB-E772490B702A}" type="presOf" srcId="{5A06507F-6864-4CEB-B193-B218D7C0C423}" destId="{23EDF922-D3B3-4A5A-8DA3-6BDB04A4CDF0}" srcOrd="0" destOrd="0" presId="urn:microsoft.com/office/officeart/2018/2/layout/IconVerticalSolidList"/>
    <dgm:cxn modelId="{40BC630C-9688-4D7C-BC4C-F06F9CEDC736}" type="presParOf" srcId="{653C700E-7DA4-45ED-8FA4-975079905F13}" destId="{72EF7D6D-80B1-4B44-8B2C-98D67CEE1812}" srcOrd="0" destOrd="0" presId="urn:microsoft.com/office/officeart/2018/2/layout/IconVerticalSolidList"/>
    <dgm:cxn modelId="{E5A00733-3CD4-40C0-B484-4A75CEB78888}" type="presParOf" srcId="{72EF7D6D-80B1-4B44-8B2C-98D67CEE1812}" destId="{7D5D466F-8580-48FA-B979-AF6B30A05B21}" srcOrd="0" destOrd="0" presId="urn:microsoft.com/office/officeart/2018/2/layout/IconVerticalSolidList"/>
    <dgm:cxn modelId="{27011F57-4115-46AF-83AE-8D40008F1503}" type="presParOf" srcId="{72EF7D6D-80B1-4B44-8B2C-98D67CEE1812}" destId="{87C96F0B-FEAA-424C-9B40-6524D0165201}" srcOrd="1" destOrd="0" presId="urn:microsoft.com/office/officeart/2018/2/layout/IconVerticalSolidList"/>
    <dgm:cxn modelId="{1A1EC805-399C-4D4F-80FC-0EDB268FF553}" type="presParOf" srcId="{72EF7D6D-80B1-4B44-8B2C-98D67CEE1812}" destId="{205F97C6-69F0-486E-9FF5-83269227F5AE}" srcOrd="2" destOrd="0" presId="urn:microsoft.com/office/officeart/2018/2/layout/IconVerticalSolidList"/>
    <dgm:cxn modelId="{6A8F2A5D-E3BA-43C2-B702-3550B290C7DE}" type="presParOf" srcId="{72EF7D6D-80B1-4B44-8B2C-98D67CEE1812}" destId="{FCDA37AB-30E8-4986-AA4E-1BC8A91E3713}" srcOrd="3" destOrd="0" presId="urn:microsoft.com/office/officeart/2018/2/layout/IconVerticalSolidList"/>
    <dgm:cxn modelId="{47C97FBC-151B-4DCE-8122-B15A54248A25}" type="presParOf" srcId="{653C700E-7DA4-45ED-8FA4-975079905F13}" destId="{9A3DBCBA-6511-47B3-963F-B09DA453591D}" srcOrd="1" destOrd="0" presId="urn:microsoft.com/office/officeart/2018/2/layout/IconVerticalSolidList"/>
    <dgm:cxn modelId="{924F9F97-3386-49A7-8C7A-90F17630EAB1}" type="presParOf" srcId="{653C700E-7DA4-45ED-8FA4-975079905F13}" destId="{C847FAAB-5C35-4711-A16E-5CC224D30CCA}" srcOrd="2" destOrd="0" presId="urn:microsoft.com/office/officeart/2018/2/layout/IconVerticalSolidList"/>
    <dgm:cxn modelId="{4F633C82-B0F4-463C-9B95-16712BFD4D83}" type="presParOf" srcId="{C847FAAB-5C35-4711-A16E-5CC224D30CCA}" destId="{603AA2B1-A944-4EB2-9E21-2E5DC23FC350}" srcOrd="0" destOrd="0" presId="urn:microsoft.com/office/officeart/2018/2/layout/IconVerticalSolidList"/>
    <dgm:cxn modelId="{087710EE-235F-4ADC-BFC5-5E65AB2D39E5}" type="presParOf" srcId="{C847FAAB-5C35-4711-A16E-5CC224D30CCA}" destId="{4D7CEA8D-9BAB-45F3-AE8E-85D318D22FA8}" srcOrd="1" destOrd="0" presId="urn:microsoft.com/office/officeart/2018/2/layout/IconVerticalSolidList"/>
    <dgm:cxn modelId="{42C2B8F1-45D5-405B-B0CC-70EA7E6B276B}" type="presParOf" srcId="{C847FAAB-5C35-4711-A16E-5CC224D30CCA}" destId="{BA343292-8EB1-4C27-9C17-B9A8AE53F80E}" srcOrd="2" destOrd="0" presId="urn:microsoft.com/office/officeart/2018/2/layout/IconVerticalSolidList"/>
    <dgm:cxn modelId="{56762B9A-C037-4629-A0A5-611EBED0C2FE}" type="presParOf" srcId="{C847FAAB-5C35-4711-A16E-5CC224D30CCA}" destId="{18E1CEB5-A357-49F0-834B-1600ABFF70BD}" srcOrd="3" destOrd="0" presId="urn:microsoft.com/office/officeart/2018/2/layout/IconVerticalSolidList"/>
    <dgm:cxn modelId="{BED3F9D7-E840-4868-BC4C-C20DA8B4DE5C}" type="presParOf" srcId="{653C700E-7DA4-45ED-8FA4-975079905F13}" destId="{736592A2-2B69-4B25-A53F-00152C29A056}" srcOrd="3" destOrd="0" presId="urn:microsoft.com/office/officeart/2018/2/layout/IconVerticalSolidList"/>
    <dgm:cxn modelId="{719DD9CC-D9F3-4CF3-942D-9A071358638A}" type="presParOf" srcId="{653C700E-7DA4-45ED-8FA4-975079905F13}" destId="{2FB22C70-B8D3-453B-9D4E-2E9D3BF55D0E}" srcOrd="4" destOrd="0" presId="urn:microsoft.com/office/officeart/2018/2/layout/IconVerticalSolidList"/>
    <dgm:cxn modelId="{80F80CF9-8B2E-4830-948C-E429BF7074C0}" type="presParOf" srcId="{2FB22C70-B8D3-453B-9D4E-2E9D3BF55D0E}" destId="{56F83C96-B8EE-4B93-85FE-9093D2E1C80E}" srcOrd="0" destOrd="0" presId="urn:microsoft.com/office/officeart/2018/2/layout/IconVerticalSolidList"/>
    <dgm:cxn modelId="{AC85C1BE-AFC4-4447-9F07-B962EBCB4D4B}" type="presParOf" srcId="{2FB22C70-B8D3-453B-9D4E-2E9D3BF55D0E}" destId="{77B02985-E493-4E73-B15D-9765D53241A2}" srcOrd="1" destOrd="0" presId="urn:microsoft.com/office/officeart/2018/2/layout/IconVerticalSolidList"/>
    <dgm:cxn modelId="{6604B7BC-1E97-476B-A3E1-E6FE5E7D144F}" type="presParOf" srcId="{2FB22C70-B8D3-453B-9D4E-2E9D3BF55D0E}" destId="{50679CAF-5D47-44DE-8A12-94654D24B1CF}" srcOrd="2" destOrd="0" presId="urn:microsoft.com/office/officeart/2018/2/layout/IconVerticalSolidList"/>
    <dgm:cxn modelId="{30649C17-6370-44ED-A0FA-704600F1AA9A}" type="presParOf" srcId="{2FB22C70-B8D3-453B-9D4E-2E9D3BF55D0E}" destId="{23EDF922-D3B3-4A5A-8DA3-6BDB04A4CD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161CC6-D3EA-41F2-A130-3FA91168720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B1FF9C5-7EF2-47E7-9E94-E367FE87B1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Improving Query Performance</a:t>
          </a:r>
          <a:endParaRPr lang="en-US"/>
        </a:p>
      </dgm:t>
    </dgm:pt>
    <dgm:pt modelId="{01F0A23E-CB79-4E90-B3A9-9BC58A1AAA57}" type="parTrans" cxnId="{7ADD86E9-981F-4E1C-9289-AE87FD0430FE}">
      <dgm:prSet/>
      <dgm:spPr/>
      <dgm:t>
        <a:bodyPr/>
        <a:lstStyle/>
        <a:p>
          <a:endParaRPr lang="en-US"/>
        </a:p>
      </dgm:t>
    </dgm:pt>
    <dgm:pt modelId="{D9537C09-5E66-4D09-AF05-F8B9E23888B7}" type="sibTrans" cxnId="{7ADD86E9-981F-4E1C-9289-AE87FD0430FE}">
      <dgm:prSet/>
      <dgm:spPr/>
      <dgm:t>
        <a:bodyPr/>
        <a:lstStyle/>
        <a:p>
          <a:endParaRPr lang="en-US"/>
        </a:p>
      </dgm:t>
    </dgm:pt>
    <dgm:pt modelId="{699DBBE5-06DF-4416-A17C-BB9C4BC569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Properly structured relationships allow for </a:t>
          </a:r>
          <a:r>
            <a:rPr lang="en-US" b="1" dirty="0"/>
            <a:t>efficient queries</a:t>
          </a:r>
          <a:r>
            <a:rPr lang="en-US" dirty="0"/>
            <a:t> using JOINS</a:t>
          </a:r>
        </a:p>
      </dgm:t>
    </dgm:pt>
    <dgm:pt modelId="{A8D70800-3AC5-464F-A867-1174916A35B1}" type="parTrans" cxnId="{A65BE003-2165-4D4B-A95E-9963E34E05E8}">
      <dgm:prSet/>
      <dgm:spPr/>
      <dgm:t>
        <a:bodyPr/>
        <a:lstStyle/>
        <a:p>
          <a:endParaRPr lang="en-US"/>
        </a:p>
      </dgm:t>
    </dgm:pt>
    <dgm:pt modelId="{6D10E20A-0CBE-4CAA-9EC3-9F0C020C4D40}" type="sibTrans" cxnId="{A65BE003-2165-4D4B-A95E-9963E34E05E8}">
      <dgm:prSet/>
      <dgm:spPr/>
      <dgm:t>
        <a:bodyPr/>
        <a:lstStyle/>
        <a:p>
          <a:endParaRPr lang="en-US"/>
        </a:p>
      </dgm:t>
    </dgm:pt>
    <dgm:pt modelId="{E5A9BAC5-45A4-4D19-AAF3-D765BA0F508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Avoid overtaxing processing scanning large duplicated datasets.</a:t>
          </a:r>
        </a:p>
      </dgm:t>
    </dgm:pt>
    <dgm:pt modelId="{FF63ACF7-78F6-4D27-ADD2-73054DBF468D}" type="parTrans" cxnId="{A79443EE-9B4B-41F9-AB52-653D070E89D5}">
      <dgm:prSet/>
      <dgm:spPr/>
      <dgm:t>
        <a:bodyPr/>
        <a:lstStyle/>
        <a:p>
          <a:endParaRPr lang="en-US"/>
        </a:p>
      </dgm:t>
    </dgm:pt>
    <dgm:pt modelId="{18750125-C761-4242-918A-F3E6375E0CA2}" type="sibTrans" cxnId="{A79443EE-9B4B-41F9-AB52-653D070E89D5}">
      <dgm:prSet/>
      <dgm:spPr/>
      <dgm:t>
        <a:bodyPr/>
        <a:lstStyle/>
        <a:p>
          <a:endParaRPr lang="en-US"/>
        </a:p>
      </dgm:t>
    </dgm:pt>
    <dgm:pt modelId="{1ADA8FB0-8ED4-4788-8C98-C950677956F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dirty="0"/>
            <a:t>Example</a:t>
          </a:r>
          <a:r>
            <a:rPr lang="en-US" dirty="0"/>
            <a:t>: A relational database can quickly pull </a:t>
          </a:r>
          <a:r>
            <a:rPr lang="en-US" b="1" dirty="0"/>
            <a:t>all</a:t>
          </a:r>
          <a:r>
            <a:rPr lang="en-US" dirty="0"/>
            <a:t> orders for a customer using </a:t>
          </a:r>
          <a:r>
            <a:rPr lang="en-US" u="sng" dirty="0"/>
            <a:t>the related columns</a:t>
          </a:r>
          <a:r>
            <a:rPr lang="en-US" u="none" dirty="0"/>
            <a:t> </a:t>
          </a:r>
          <a:r>
            <a:rPr lang="en-US" dirty="0"/>
            <a:t>indexed rather than searching an </a:t>
          </a:r>
          <a:r>
            <a:rPr lang="en-US" u="sng" dirty="0"/>
            <a:t>entire</a:t>
          </a:r>
          <a:r>
            <a:rPr lang="en-US" dirty="0"/>
            <a:t> orders table.</a:t>
          </a:r>
        </a:p>
      </dgm:t>
    </dgm:pt>
    <dgm:pt modelId="{0F284FA3-D111-4C08-A219-EF0182D1155C}" type="parTrans" cxnId="{32F66268-A3A3-473B-A1CB-8064C60749F5}">
      <dgm:prSet/>
      <dgm:spPr/>
      <dgm:t>
        <a:bodyPr/>
        <a:lstStyle/>
        <a:p>
          <a:endParaRPr lang="en-US"/>
        </a:p>
      </dgm:t>
    </dgm:pt>
    <dgm:pt modelId="{14618A7F-C686-4F29-9F5E-6EDAF79CAC87}" type="sibTrans" cxnId="{32F66268-A3A3-473B-A1CB-8064C60749F5}">
      <dgm:prSet/>
      <dgm:spPr/>
      <dgm:t>
        <a:bodyPr/>
        <a:lstStyle/>
        <a:p>
          <a:endParaRPr lang="en-US"/>
        </a:p>
      </dgm:t>
    </dgm:pt>
    <dgm:pt modelId="{F50BED68-C182-4567-B252-958698324211}" type="pres">
      <dgm:prSet presAssocID="{3C161CC6-D3EA-41F2-A130-3FA911687206}" presName="root" presStyleCnt="0">
        <dgm:presLayoutVars>
          <dgm:dir/>
          <dgm:resizeHandles val="exact"/>
        </dgm:presLayoutVars>
      </dgm:prSet>
      <dgm:spPr/>
    </dgm:pt>
    <dgm:pt modelId="{28C37856-BB9A-410A-8482-77D543230467}" type="pres">
      <dgm:prSet presAssocID="{6B1FF9C5-7EF2-47E7-9E94-E367FE87B191}" presName="compNode" presStyleCnt="0"/>
      <dgm:spPr/>
    </dgm:pt>
    <dgm:pt modelId="{D6850FD7-E847-409F-8D62-5C0596A60B32}" type="pres">
      <dgm:prSet presAssocID="{6B1FF9C5-7EF2-47E7-9E94-E367FE87B191}" presName="bgRect" presStyleLbl="bgShp" presStyleIdx="0" presStyleCnt="4"/>
      <dgm:spPr/>
    </dgm:pt>
    <dgm:pt modelId="{8DDB5F57-3752-4D1D-A93D-E6ED6D97CE95}" type="pres">
      <dgm:prSet presAssocID="{6B1FF9C5-7EF2-47E7-9E94-E367FE87B1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AB12CE62-E07D-4172-9529-6C2EC03823E8}" type="pres">
      <dgm:prSet presAssocID="{6B1FF9C5-7EF2-47E7-9E94-E367FE87B191}" presName="spaceRect" presStyleCnt="0"/>
      <dgm:spPr/>
    </dgm:pt>
    <dgm:pt modelId="{29BD0823-0807-48E7-8118-FD8408648870}" type="pres">
      <dgm:prSet presAssocID="{6B1FF9C5-7EF2-47E7-9E94-E367FE87B191}" presName="parTx" presStyleLbl="revTx" presStyleIdx="0" presStyleCnt="4">
        <dgm:presLayoutVars>
          <dgm:chMax val="0"/>
          <dgm:chPref val="0"/>
        </dgm:presLayoutVars>
      </dgm:prSet>
      <dgm:spPr/>
    </dgm:pt>
    <dgm:pt modelId="{F5CF867D-6C22-440A-BD7B-59CA33C664CF}" type="pres">
      <dgm:prSet presAssocID="{D9537C09-5E66-4D09-AF05-F8B9E23888B7}" presName="sibTrans" presStyleCnt="0"/>
      <dgm:spPr/>
    </dgm:pt>
    <dgm:pt modelId="{5DCC8D06-53D2-41C2-90E8-FF0AFE25004B}" type="pres">
      <dgm:prSet presAssocID="{699DBBE5-06DF-4416-A17C-BB9C4BC56944}" presName="compNode" presStyleCnt="0"/>
      <dgm:spPr/>
    </dgm:pt>
    <dgm:pt modelId="{D7F062F5-D51F-453F-A0F8-C28B6102F284}" type="pres">
      <dgm:prSet presAssocID="{699DBBE5-06DF-4416-A17C-BB9C4BC56944}" presName="bgRect" presStyleLbl="bgShp" presStyleIdx="1" presStyleCnt="4"/>
      <dgm:spPr/>
    </dgm:pt>
    <dgm:pt modelId="{9A4C2A3C-FBFD-4F8E-9B08-B0D4D23D731B}" type="pres">
      <dgm:prSet presAssocID="{699DBBE5-06DF-4416-A17C-BB9C4BC5694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ers"/>
        </a:ext>
      </dgm:extLst>
    </dgm:pt>
    <dgm:pt modelId="{E7203C03-C845-47E9-8DF8-8FC01DBBC9E5}" type="pres">
      <dgm:prSet presAssocID="{699DBBE5-06DF-4416-A17C-BB9C4BC56944}" presName="spaceRect" presStyleCnt="0"/>
      <dgm:spPr/>
    </dgm:pt>
    <dgm:pt modelId="{7E97A3BE-F991-4613-A4C9-B647B5AB874B}" type="pres">
      <dgm:prSet presAssocID="{699DBBE5-06DF-4416-A17C-BB9C4BC56944}" presName="parTx" presStyleLbl="revTx" presStyleIdx="1" presStyleCnt="4">
        <dgm:presLayoutVars>
          <dgm:chMax val="0"/>
          <dgm:chPref val="0"/>
        </dgm:presLayoutVars>
      </dgm:prSet>
      <dgm:spPr/>
    </dgm:pt>
    <dgm:pt modelId="{D47F3967-AF56-4EB5-B9DE-409CFD6063F2}" type="pres">
      <dgm:prSet presAssocID="{6D10E20A-0CBE-4CAA-9EC3-9F0C020C4D40}" presName="sibTrans" presStyleCnt="0"/>
      <dgm:spPr/>
    </dgm:pt>
    <dgm:pt modelId="{3C073E7D-3A7B-4B4C-8584-12D39E4EBE31}" type="pres">
      <dgm:prSet presAssocID="{E5A9BAC5-45A4-4D19-AAF3-D765BA0F508D}" presName="compNode" presStyleCnt="0"/>
      <dgm:spPr/>
    </dgm:pt>
    <dgm:pt modelId="{CC82F19A-1B89-4DD7-8AD7-B1D9B45613E7}" type="pres">
      <dgm:prSet presAssocID="{E5A9BAC5-45A4-4D19-AAF3-D765BA0F508D}" presName="bgRect" presStyleLbl="bgShp" presStyleIdx="2" presStyleCnt="4"/>
      <dgm:spPr/>
    </dgm:pt>
    <dgm:pt modelId="{C32548AF-6D11-4688-8EBC-D0CAC7FB5F26}" type="pres">
      <dgm:prSet presAssocID="{E5A9BAC5-45A4-4D19-AAF3-D765BA0F508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2EAD494C-5F40-4B49-A234-39425DC259C6}" type="pres">
      <dgm:prSet presAssocID="{E5A9BAC5-45A4-4D19-AAF3-D765BA0F508D}" presName="spaceRect" presStyleCnt="0"/>
      <dgm:spPr/>
    </dgm:pt>
    <dgm:pt modelId="{EBEC5DDB-C1E8-407D-8C59-B25D3A32C638}" type="pres">
      <dgm:prSet presAssocID="{E5A9BAC5-45A4-4D19-AAF3-D765BA0F508D}" presName="parTx" presStyleLbl="revTx" presStyleIdx="2" presStyleCnt="4">
        <dgm:presLayoutVars>
          <dgm:chMax val="0"/>
          <dgm:chPref val="0"/>
        </dgm:presLayoutVars>
      </dgm:prSet>
      <dgm:spPr/>
    </dgm:pt>
    <dgm:pt modelId="{29EC9F0D-DC2E-4D16-8F2D-3983F2DF33E6}" type="pres">
      <dgm:prSet presAssocID="{18750125-C761-4242-918A-F3E6375E0CA2}" presName="sibTrans" presStyleCnt="0"/>
      <dgm:spPr/>
    </dgm:pt>
    <dgm:pt modelId="{ECF54529-B551-4A54-ACDB-CF98502DFE66}" type="pres">
      <dgm:prSet presAssocID="{1ADA8FB0-8ED4-4788-8C98-C950677956F2}" presName="compNode" presStyleCnt="0"/>
      <dgm:spPr/>
    </dgm:pt>
    <dgm:pt modelId="{D72F9813-84A8-4531-92E6-1832D839937B}" type="pres">
      <dgm:prSet presAssocID="{1ADA8FB0-8ED4-4788-8C98-C950677956F2}" presName="bgRect" presStyleLbl="bgShp" presStyleIdx="3" presStyleCnt="4"/>
      <dgm:spPr/>
    </dgm:pt>
    <dgm:pt modelId="{8F319E87-E8DD-4F33-B10A-4F9AEAF2EECA}" type="pres">
      <dgm:prSet presAssocID="{1ADA8FB0-8ED4-4788-8C98-C950677956F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E2816FEF-1F07-4C83-9823-8553B8C49443}" type="pres">
      <dgm:prSet presAssocID="{1ADA8FB0-8ED4-4788-8C98-C950677956F2}" presName="spaceRect" presStyleCnt="0"/>
      <dgm:spPr/>
    </dgm:pt>
    <dgm:pt modelId="{A2965B77-E07D-423B-ACBA-CE84B7C362AA}" type="pres">
      <dgm:prSet presAssocID="{1ADA8FB0-8ED4-4788-8C98-C950677956F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65BE003-2165-4D4B-A95E-9963E34E05E8}" srcId="{3C161CC6-D3EA-41F2-A130-3FA911687206}" destId="{699DBBE5-06DF-4416-A17C-BB9C4BC56944}" srcOrd="1" destOrd="0" parTransId="{A8D70800-3AC5-464F-A867-1174916A35B1}" sibTransId="{6D10E20A-0CBE-4CAA-9EC3-9F0C020C4D40}"/>
    <dgm:cxn modelId="{11B6D030-9038-4D13-8AB7-B237177CC6BC}" type="presOf" srcId="{1ADA8FB0-8ED4-4788-8C98-C950677956F2}" destId="{A2965B77-E07D-423B-ACBA-CE84B7C362AA}" srcOrd="0" destOrd="0" presId="urn:microsoft.com/office/officeart/2018/2/layout/IconVerticalSolidList"/>
    <dgm:cxn modelId="{98C3983F-0CDC-49CE-B47A-EE66DDF5825C}" type="presOf" srcId="{699DBBE5-06DF-4416-A17C-BB9C4BC56944}" destId="{7E97A3BE-F991-4613-A4C9-B647B5AB874B}" srcOrd="0" destOrd="0" presId="urn:microsoft.com/office/officeart/2018/2/layout/IconVerticalSolidList"/>
    <dgm:cxn modelId="{32F66268-A3A3-473B-A1CB-8064C60749F5}" srcId="{3C161CC6-D3EA-41F2-A130-3FA911687206}" destId="{1ADA8FB0-8ED4-4788-8C98-C950677956F2}" srcOrd="3" destOrd="0" parTransId="{0F284FA3-D111-4C08-A219-EF0182D1155C}" sibTransId="{14618A7F-C686-4F29-9F5E-6EDAF79CAC87}"/>
    <dgm:cxn modelId="{AEF08D4C-7026-40D3-81F0-ED50896DDC49}" type="presOf" srcId="{E5A9BAC5-45A4-4D19-AAF3-D765BA0F508D}" destId="{EBEC5DDB-C1E8-407D-8C59-B25D3A32C638}" srcOrd="0" destOrd="0" presId="urn:microsoft.com/office/officeart/2018/2/layout/IconVerticalSolidList"/>
    <dgm:cxn modelId="{F21D9799-848D-4ADA-BF77-DA9376424F3B}" type="presOf" srcId="{3C161CC6-D3EA-41F2-A130-3FA911687206}" destId="{F50BED68-C182-4567-B252-958698324211}" srcOrd="0" destOrd="0" presId="urn:microsoft.com/office/officeart/2018/2/layout/IconVerticalSolidList"/>
    <dgm:cxn modelId="{EB6987A0-97A9-44C9-B70A-D1348A6DF59F}" type="presOf" srcId="{6B1FF9C5-7EF2-47E7-9E94-E367FE87B191}" destId="{29BD0823-0807-48E7-8118-FD8408648870}" srcOrd="0" destOrd="0" presId="urn:microsoft.com/office/officeart/2018/2/layout/IconVerticalSolidList"/>
    <dgm:cxn modelId="{7ADD86E9-981F-4E1C-9289-AE87FD0430FE}" srcId="{3C161CC6-D3EA-41F2-A130-3FA911687206}" destId="{6B1FF9C5-7EF2-47E7-9E94-E367FE87B191}" srcOrd="0" destOrd="0" parTransId="{01F0A23E-CB79-4E90-B3A9-9BC58A1AAA57}" sibTransId="{D9537C09-5E66-4D09-AF05-F8B9E23888B7}"/>
    <dgm:cxn modelId="{A79443EE-9B4B-41F9-AB52-653D070E89D5}" srcId="{3C161CC6-D3EA-41F2-A130-3FA911687206}" destId="{E5A9BAC5-45A4-4D19-AAF3-D765BA0F508D}" srcOrd="2" destOrd="0" parTransId="{FF63ACF7-78F6-4D27-ADD2-73054DBF468D}" sibTransId="{18750125-C761-4242-918A-F3E6375E0CA2}"/>
    <dgm:cxn modelId="{B64FACB9-4C84-4125-97DA-220D3C6F3621}" type="presParOf" srcId="{F50BED68-C182-4567-B252-958698324211}" destId="{28C37856-BB9A-410A-8482-77D543230467}" srcOrd="0" destOrd="0" presId="urn:microsoft.com/office/officeart/2018/2/layout/IconVerticalSolidList"/>
    <dgm:cxn modelId="{F613E7C9-A74C-4DB6-A057-C85E9F1631C8}" type="presParOf" srcId="{28C37856-BB9A-410A-8482-77D543230467}" destId="{D6850FD7-E847-409F-8D62-5C0596A60B32}" srcOrd="0" destOrd="0" presId="urn:microsoft.com/office/officeart/2018/2/layout/IconVerticalSolidList"/>
    <dgm:cxn modelId="{380C04F6-9C49-4A67-839E-E8803A0ADE01}" type="presParOf" srcId="{28C37856-BB9A-410A-8482-77D543230467}" destId="{8DDB5F57-3752-4D1D-A93D-E6ED6D97CE95}" srcOrd="1" destOrd="0" presId="urn:microsoft.com/office/officeart/2018/2/layout/IconVerticalSolidList"/>
    <dgm:cxn modelId="{5CDA8AE4-5F59-49A3-94BA-C2D45A879976}" type="presParOf" srcId="{28C37856-BB9A-410A-8482-77D543230467}" destId="{AB12CE62-E07D-4172-9529-6C2EC03823E8}" srcOrd="2" destOrd="0" presId="urn:microsoft.com/office/officeart/2018/2/layout/IconVerticalSolidList"/>
    <dgm:cxn modelId="{A4204B82-39FA-4885-ABCB-1C1735D0F372}" type="presParOf" srcId="{28C37856-BB9A-410A-8482-77D543230467}" destId="{29BD0823-0807-48E7-8118-FD8408648870}" srcOrd="3" destOrd="0" presId="urn:microsoft.com/office/officeart/2018/2/layout/IconVerticalSolidList"/>
    <dgm:cxn modelId="{918E29EC-9F72-4B46-B0B5-C3F8089FF665}" type="presParOf" srcId="{F50BED68-C182-4567-B252-958698324211}" destId="{F5CF867D-6C22-440A-BD7B-59CA33C664CF}" srcOrd="1" destOrd="0" presId="urn:microsoft.com/office/officeart/2018/2/layout/IconVerticalSolidList"/>
    <dgm:cxn modelId="{1DEDE218-BED5-4D14-81A4-F72343C8C398}" type="presParOf" srcId="{F50BED68-C182-4567-B252-958698324211}" destId="{5DCC8D06-53D2-41C2-90E8-FF0AFE25004B}" srcOrd="2" destOrd="0" presId="urn:microsoft.com/office/officeart/2018/2/layout/IconVerticalSolidList"/>
    <dgm:cxn modelId="{B144031C-348C-41CE-BF70-DB61FEE254B6}" type="presParOf" srcId="{5DCC8D06-53D2-41C2-90E8-FF0AFE25004B}" destId="{D7F062F5-D51F-453F-A0F8-C28B6102F284}" srcOrd="0" destOrd="0" presId="urn:microsoft.com/office/officeart/2018/2/layout/IconVerticalSolidList"/>
    <dgm:cxn modelId="{61F3BEA5-EDE7-40B6-BCA3-77FAED0AD015}" type="presParOf" srcId="{5DCC8D06-53D2-41C2-90E8-FF0AFE25004B}" destId="{9A4C2A3C-FBFD-4F8E-9B08-B0D4D23D731B}" srcOrd="1" destOrd="0" presId="urn:microsoft.com/office/officeart/2018/2/layout/IconVerticalSolidList"/>
    <dgm:cxn modelId="{490B852A-9709-4EC5-A121-FAFD6FB31E73}" type="presParOf" srcId="{5DCC8D06-53D2-41C2-90E8-FF0AFE25004B}" destId="{E7203C03-C845-47E9-8DF8-8FC01DBBC9E5}" srcOrd="2" destOrd="0" presId="urn:microsoft.com/office/officeart/2018/2/layout/IconVerticalSolidList"/>
    <dgm:cxn modelId="{2E59DFE3-A1F3-4B6A-9D9D-A150CCE21A65}" type="presParOf" srcId="{5DCC8D06-53D2-41C2-90E8-FF0AFE25004B}" destId="{7E97A3BE-F991-4613-A4C9-B647B5AB874B}" srcOrd="3" destOrd="0" presId="urn:microsoft.com/office/officeart/2018/2/layout/IconVerticalSolidList"/>
    <dgm:cxn modelId="{20584F16-337C-4354-8955-1DE0339F69E8}" type="presParOf" srcId="{F50BED68-C182-4567-B252-958698324211}" destId="{D47F3967-AF56-4EB5-B9DE-409CFD6063F2}" srcOrd="3" destOrd="0" presId="urn:microsoft.com/office/officeart/2018/2/layout/IconVerticalSolidList"/>
    <dgm:cxn modelId="{9E3C792F-8600-4C5F-B0E4-86541DA3E64A}" type="presParOf" srcId="{F50BED68-C182-4567-B252-958698324211}" destId="{3C073E7D-3A7B-4B4C-8584-12D39E4EBE31}" srcOrd="4" destOrd="0" presId="urn:microsoft.com/office/officeart/2018/2/layout/IconVerticalSolidList"/>
    <dgm:cxn modelId="{215BA5F6-1988-43CA-AF82-53A5E7D1D08C}" type="presParOf" srcId="{3C073E7D-3A7B-4B4C-8584-12D39E4EBE31}" destId="{CC82F19A-1B89-4DD7-8AD7-B1D9B45613E7}" srcOrd="0" destOrd="0" presId="urn:microsoft.com/office/officeart/2018/2/layout/IconVerticalSolidList"/>
    <dgm:cxn modelId="{2A48E539-499F-474D-B657-296FD8363801}" type="presParOf" srcId="{3C073E7D-3A7B-4B4C-8584-12D39E4EBE31}" destId="{C32548AF-6D11-4688-8EBC-D0CAC7FB5F26}" srcOrd="1" destOrd="0" presId="urn:microsoft.com/office/officeart/2018/2/layout/IconVerticalSolidList"/>
    <dgm:cxn modelId="{2F29C282-06F1-487B-BF3C-AE8057791047}" type="presParOf" srcId="{3C073E7D-3A7B-4B4C-8584-12D39E4EBE31}" destId="{2EAD494C-5F40-4B49-A234-39425DC259C6}" srcOrd="2" destOrd="0" presId="urn:microsoft.com/office/officeart/2018/2/layout/IconVerticalSolidList"/>
    <dgm:cxn modelId="{006B41ED-886E-4081-A8C2-A3B937C31273}" type="presParOf" srcId="{3C073E7D-3A7B-4B4C-8584-12D39E4EBE31}" destId="{EBEC5DDB-C1E8-407D-8C59-B25D3A32C638}" srcOrd="3" destOrd="0" presId="urn:microsoft.com/office/officeart/2018/2/layout/IconVerticalSolidList"/>
    <dgm:cxn modelId="{A2F9760D-0B3B-40C4-AFC8-6D9209F6CAF3}" type="presParOf" srcId="{F50BED68-C182-4567-B252-958698324211}" destId="{29EC9F0D-DC2E-4D16-8F2D-3983F2DF33E6}" srcOrd="5" destOrd="0" presId="urn:microsoft.com/office/officeart/2018/2/layout/IconVerticalSolidList"/>
    <dgm:cxn modelId="{C4498BF9-6C46-479B-87D1-1A47160FB815}" type="presParOf" srcId="{F50BED68-C182-4567-B252-958698324211}" destId="{ECF54529-B551-4A54-ACDB-CF98502DFE66}" srcOrd="6" destOrd="0" presId="urn:microsoft.com/office/officeart/2018/2/layout/IconVerticalSolidList"/>
    <dgm:cxn modelId="{3EF752CD-A147-468E-A2DE-472ED5E029A6}" type="presParOf" srcId="{ECF54529-B551-4A54-ACDB-CF98502DFE66}" destId="{D72F9813-84A8-4531-92E6-1832D839937B}" srcOrd="0" destOrd="0" presId="urn:microsoft.com/office/officeart/2018/2/layout/IconVerticalSolidList"/>
    <dgm:cxn modelId="{89733816-7C60-4289-949A-4F3ADA619DF6}" type="presParOf" srcId="{ECF54529-B551-4A54-ACDB-CF98502DFE66}" destId="{8F319E87-E8DD-4F33-B10A-4F9AEAF2EECA}" srcOrd="1" destOrd="0" presId="urn:microsoft.com/office/officeart/2018/2/layout/IconVerticalSolidList"/>
    <dgm:cxn modelId="{043B88CB-AFD7-4203-8A64-206599EA8475}" type="presParOf" srcId="{ECF54529-B551-4A54-ACDB-CF98502DFE66}" destId="{E2816FEF-1F07-4C83-9823-8553B8C49443}" srcOrd="2" destOrd="0" presId="urn:microsoft.com/office/officeart/2018/2/layout/IconVerticalSolidList"/>
    <dgm:cxn modelId="{C389D688-F4EA-4E7A-961F-CF4FC73380C3}" type="presParOf" srcId="{ECF54529-B551-4A54-ACDB-CF98502DFE66}" destId="{A2965B77-E07D-423B-ACBA-CE84B7C362A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4D19FD0-6E14-4F8E-A227-8855C16D67F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05528D3-FE58-475D-B5AB-3C86D0A862F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 dirty="0"/>
            <a:t>Enabling Business Intelligence &amp; Reporting</a:t>
          </a:r>
          <a:endParaRPr lang="en-US" sz="1400" dirty="0"/>
        </a:p>
      </dgm:t>
    </dgm:pt>
    <dgm:pt modelId="{E9687478-D283-4FD7-A464-AA352CD52FD1}" type="parTrans" cxnId="{F484EF26-CC75-40DD-A0E4-21834D9DAC23}">
      <dgm:prSet/>
      <dgm:spPr/>
      <dgm:t>
        <a:bodyPr/>
        <a:lstStyle/>
        <a:p>
          <a:endParaRPr lang="en-US"/>
        </a:p>
      </dgm:t>
    </dgm:pt>
    <dgm:pt modelId="{F0FB033C-82A0-4BD1-86E4-887DDEF399E7}" type="sibTrans" cxnId="{F484EF26-CC75-40DD-A0E4-21834D9DAC23}">
      <dgm:prSet/>
      <dgm:spPr/>
      <dgm:t>
        <a:bodyPr/>
        <a:lstStyle/>
        <a:p>
          <a:endParaRPr lang="en-US"/>
        </a:p>
      </dgm:t>
    </dgm:pt>
    <dgm:pt modelId="{C0EC81F3-4E22-4985-A459-35DC9A52F23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dirty="0"/>
            <a:t>Relational data models allow for </a:t>
          </a:r>
          <a:r>
            <a:rPr lang="en-US" sz="1400" b="1" dirty="0"/>
            <a:t>aggregations, trend analysis, and insights</a:t>
          </a:r>
          <a:endParaRPr lang="en-US" sz="1400" dirty="0"/>
        </a:p>
      </dgm:t>
    </dgm:pt>
    <dgm:pt modelId="{404DCF0F-F1A9-4EE1-82EC-2A50C63F941A}" type="parTrans" cxnId="{1E30CC72-A11C-496A-8C9C-BBCC4AA15A50}">
      <dgm:prSet/>
      <dgm:spPr/>
      <dgm:t>
        <a:bodyPr/>
        <a:lstStyle/>
        <a:p>
          <a:endParaRPr lang="en-US"/>
        </a:p>
      </dgm:t>
    </dgm:pt>
    <dgm:pt modelId="{152F7385-F643-49A6-ADC9-11882D4E0295}" type="sibTrans" cxnId="{1E30CC72-A11C-496A-8C9C-BBCC4AA15A50}">
      <dgm:prSet/>
      <dgm:spPr/>
      <dgm:t>
        <a:bodyPr/>
        <a:lstStyle/>
        <a:p>
          <a:endParaRPr lang="en-US"/>
        </a:p>
      </dgm:t>
    </dgm:pt>
    <dgm:pt modelId="{6E3E4CE5-80DF-418A-AE02-AFB067382694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/>
            <a:t>Example: A company can analyze </a:t>
          </a:r>
          <a:r>
            <a:rPr lang="en-US" sz="1400" b="1"/>
            <a:t>sales per region</a:t>
          </a:r>
          <a:r>
            <a:rPr lang="en-US" sz="1400"/>
            <a:t> by relating </a:t>
          </a:r>
          <a:r>
            <a:rPr lang="en-US" sz="1400" b="1"/>
            <a:t>Sales Transactions</a:t>
          </a:r>
          <a:r>
            <a:rPr lang="en-US" sz="1400"/>
            <a:t> to </a:t>
          </a:r>
          <a:r>
            <a:rPr lang="en-US" sz="1400" b="1"/>
            <a:t>Customers</a:t>
          </a:r>
          <a:r>
            <a:rPr lang="en-US" sz="1400"/>
            <a:t> and </a:t>
          </a:r>
          <a:r>
            <a:rPr lang="en-US" sz="1400" b="1"/>
            <a:t>Regions</a:t>
          </a:r>
          <a:r>
            <a:rPr lang="en-US" sz="1400"/>
            <a:t> tables.</a:t>
          </a:r>
        </a:p>
      </dgm:t>
    </dgm:pt>
    <dgm:pt modelId="{5BD44620-947F-4269-AFDB-46415D3E6A97}" type="parTrans" cxnId="{01D1F49A-9A2C-4E2F-9DE4-C356216702EE}">
      <dgm:prSet/>
      <dgm:spPr/>
      <dgm:t>
        <a:bodyPr/>
        <a:lstStyle/>
        <a:p>
          <a:endParaRPr lang="en-US"/>
        </a:p>
      </dgm:t>
    </dgm:pt>
    <dgm:pt modelId="{3DF13767-6E83-4493-A5F3-0A981A0C3E57}" type="sibTrans" cxnId="{01D1F49A-9A2C-4E2F-9DE4-C356216702EE}">
      <dgm:prSet/>
      <dgm:spPr/>
      <dgm:t>
        <a:bodyPr/>
        <a:lstStyle/>
        <a:p>
          <a:endParaRPr lang="en-US"/>
        </a:p>
      </dgm:t>
    </dgm:pt>
    <dgm:pt modelId="{346A1634-77A1-4E8E-8EED-13E830B3FEC8}" type="pres">
      <dgm:prSet presAssocID="{14D19FD0-6E14-4F8E-A227-8855C16D67F7}" presName="root" presStyleCnt="0">
        <dgm:presLayoutVars>
          <dgm:dir/>
          <dgm:resizeHandles val="exact"/>
        </dgm:presLayoutVars>
      </dgm:prSet>
      <dgm:spPr/>
    </dgm:pt>
    <dgm:pt modelId="{13ACAC06-4BFD-40D1-85ED-EC9CA5FD0CB9}" type="pres">
      <dgm:prSet presAssocID="{005528D3-FE58-475D-B5AB-3C86D0A862FC}" presName="compNode" presStyleCnt="0"/>
      <dgm:spPr/>
    </dgm:pt>
    <dgm:pt modelId="{DA042C2F-0129-4433-AC8C-DFFCF0E32BB7}" type="pres">
      <dgm:prSet presAssocID="{005528D3-FE58-475D-B5AB-3C86D0A862F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69C478D0-54AC-40E1-B722-A51B3E23F5BD}" type="pres">
      <dgm:prSet presAssocID="{005528D3-FE58-475D-B5AB-3C86D0A862FC}" presName="spaceRect" presStyleCnt="0"/>
      <dgm:spPr/>
    </dgm:pt>
    <dgm:pt modelId="{7D0C9594-CF6E-44D3-ACD0-59B94D2DA1F3}" type="pres">
      <dgm:prSet presAssocID="{005528D3-FE58-475D-B5AB-3C86D0A862FC}" presName="textRect" presStyleLbl="revTx" presStyleIdx="0" presStyleCnt="3">
        <dgm:presLayoutVars>
          <dgm:chMax val="1"/>
          <dgm:chPref val="1"/>
        </dgm:presLayoutVars>
      </dgm:prSet>
      <dgm:spPr/>
    </dgm:pt>
    <dgm:pt modelId="{1561919D-8B7B-4644-A908-3E46F17FD389}" type="pres">
      <dgm:prSet presAssocID="{F0FB033C-82A0-4BD1-86E4-887DDEF399E7}" presName="sibTrans" presStyleCnt="0"/>
      <dgm:spPr/>
    </dgm:pt>
    <dgm:pt modelId="{2D037236-E0E5-4823-B0B4-4A8902264C54}" type="pres">
      <dgm:prSet presAssocID="{C0EC81F3-4E22-4985-A459-35DC9A52F23D}" presName="compNode" presStyleCnt="0"/>
      <dgm:spPr/>
    </dgm:pt>
    <dgm:pt modelId="{A8F0667E-5DB8-4AB9-BBD9-3DB4CD1E5A5F}" type="pres">
      <dgm:prSet presAssocID="{C0EC81F3-4E22-4985-A459-35DC9A52F23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35427151-6BF7-41C3-AF16-409A7D9E2B79}" type="pres">
      <dgm:prSet presAssocID="{C0EC81F3-4E22-4985-A459-35DC9A52F23D}" presName="spaceRect" presStyleCnt="0"/>
      <dgm:spPr/>
    </dgm:pt>
    <dgm:pt modelId="{814A005C-A483-4C9B-8FF4-41F1F35246CD}" type="pres">
      <dgm:prSet presAssocID="{C0EC81F3-4E22-4985-A459-35DC9A52F23D}" presName="textRect" presStyleLbl="revTx" presStyleIdx="1" presStyleCnt="3">
        <dgm:presLayoutVars>
          <dgm:chMax val="1"/>
          <dgm:chPref val="1"/>
        </dgm:presLayoutVars>
      </dgm:prSet>
      <dgm:spPr/>
    </dgm:pt>
    <dgm:pt modelId="{F6C60624-E58F-40BC-91A4-71C0ACAA0354}" type="pres">
      <dgm:prSet presAssocID="{152F7385-F643-49A6-ADC9-11882D4E0295}" presName="sibTrans" presStyleCnt="0"/>
      <dgm:spPr/>
    </dgm:pt>
    <dgm:pt modelId="{511ED561-3E31-4026-B510-4D30BDAB0671}" type="pres">
      <dgm:prSet presAssocID="{6E3E4CE5-80DF-418A-AE02-AFB067382694}" presName="compNode" presStyleCnt="0"/>
      <dgm:spPr/>
    </dgm:pt>
    <dgm:pt modelId="{7B00563D-8E73-4CE6-B2A0-863A0BD76BA2}" type="pres">
      <dgm:prSet presAssocID="{6E3E4CE5-80DF-418A-AE02-AFB067382694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10A6E141-17CE-4E66-B4EB-858ED0887F7B}" type="pres">
      <dgm:prSet presAssocID="{6E3E4CE5-80DF-418A-AE02-AFB067382694}" presName="spaceRect" presStyleCnt="0"/>
      <dgm:spPr/>
    </dgm:pt>
    <dgm:pt modelId="{5FEA3E94-3C58-4A3F-8C58-ED67CE08677D}" type="pres">
      <dgm:prSet presAssocID="{6E3E4CE5-80DF-418A-AE02-AFB06738269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484EF26-CC75-40DD-A0E4-21834D9DAC23}" srcId="{14D19FD0-6E14-4F8E-A227-8855C16D67F7}" destId="{005528D3-FE58-475D-B5AB-3C86D0A862FC}" srcOrd="0" destOrd="0" parTransId="{E9687478-D283-4FD7-A464-AA352CD52FD1}" sibTransId="{F0FB033C-82A0-4BD1-86E4-887DDEF399E7}"/>
    <dgm:cxn modelId="{D7C1C366-DDAC-4F08-9866-1A759996979F}" type="presOf" srcId="{6E3E4CE5-80DF-418A-AE02-AFB067382694}" destId="{5FEA3E94-3C58-4A3F-8C58-ED67CE08677D}" srcOrd="0" destOrd="0" presId="urn:microsoft.com/office/officeart/2018/2/layout/IconLabelList"/>
    <dgm:cxn modelId="{1E30CC72-A11C-496A-8C9C-BBCC4AA15A50}" srcId="{14D19FD0-6E14-4F8E-A227-8855C16D67F7}" destId="{C0EC81F3-4E22-4985-A459-35DC9A52F23D}" srcOrd="1" destOrd="0" parTransId="{404DCF0F-F1A9-4EE1-82EC-2A50C63F941A}" sibTransId="{152F7385-F643-49A6-ADC9-11882D4E0295}"/>
    <dgm:cxn modelId="{01D1F49A-9A2C-4E2F-9DE4-C356216702EE}" srcId="{14D19FD0-6E14-4F8E-A227-8855C16D67F7}" destId="{6E3E4CE5-80DF-418A-AE02-AFB067382694}" srcOrd="2" destOrd="0" parTransId="{5BD44620-947F-4269-AFDB-46415D3E6A97}" sibTransId="{3DF13767-6E83-4493-A5F3-0A981A0C3E57}"/>
    <dgm:cxn modelId="{DC9FE5A5-D027-4358-BABB-B5C4144CF83B}" type="presOf" srcId="{C0EC81F3-4E22-4985-A459-35DC9A52F23D}" destId="{814A005C-A483-4C9B-8FF4-41F1F35246CD}" srcOrd="0" destOrd="0" presId="urn:microsoft.com/office/officeart/2018/2/layout/IconLabelList"/>
    <dgm:cxn modelId="{F51702AB-3A58-417B-BA5D-C213BCC827A5}" type="presOf" srcId="{14D19FD0-6E14-4F8E-A227-8855C16D67F7}" destId="{346A1634-77A1-4E8E-8EED-13E830B3FEC8}" srcOrd="0" destOrd="0" presId="urn:microsoft.com/office/officeart/2018/2/layout/IconLabelList"/>
    <dgm:cxn modelId="{60D4F5FB-EB62-4E1A-8F2F-E776E4202120}" type="presOf" srcId="{005528D3-FE58-475D-B5AB-3C86D0A862FC}" destId="{7D0C9594-CF6E-44D3-ACD0-59B94D2DA1F3}" srcOrd="0" destOrd="0" presId="urn:microsoft.com/office/officeart/2018/2/layout/IconLabelList"/>
    <dgm:cxn modelId="{ED8AA7C1-DEB7-4E8B-9673-8F8B62A9D684}" type="presParOf" srcId="{346A1634-77A1-4E8E-8EED-13E830B3FEC8}" destId="{13ACAC06-4BFD-40D1-85ED-EC9CA5FD0CB9}" srcOrd="0" destOrd="0" presId="urn:microsoft.com/office/officeart/2018/2/layout/IconLabelList"/>
    <dgm:cxn modelId="{30B0E1CF-68F8-4BCB-A8F7-32E8EA61519A}" type="presParOf" srcId="{13ACAC06-4BFD-40D1-85ED-EC9CA5FD0CB9}" destId="{DA042C2F-0129-4433-AC8C-DFFCF0E32BB7}" srcOrd="0" destOrd="0" presId="urn:microsoft.com/office/officeart/2018/2/layout/IconLabelList"/>
    <dgm:cxn modelId="{CD1AB26F-A2CB-4F3C-8D0E-A1560A693343}" type="presParOf" srcId="{13ACAC06-4BFD-40D1-85ED-EC9CA5FD0CB9}" destId="{69C478D0-54AC-40E1-B722-A51B3E23F5BD}" srcOrd="1" destOrd="0" presId="urn:microsoft.com/office/officeart/2018/2/layout/IconLabelList"/>
    <dgm:cxn modelId="{92DD0DFB-F7CB-4CB8-A5A4-5EF0BBC2F7E5}" type="presParOf" srcId="{13ACAC06-4BFD-40D1-85ED-EC9CA5FD0CB9}" destId="{7D0C9594-CF6E-44D3-ACD0-59B94D2DA1F3}" srcOrd="2" destOrd="0" presId="urn:microsoft.com/office/officeart/2018/2/layout/IconLabelList"/>
    <dgm:cxn modelId="{453D56D2-94F2-42AB-A8D1-FD5A0F1AC8E0}" type="presParOf" srcId="{346A1634-77A1-4E8E-8EED-13E830B3FEC8}" destId="{1561919D-8B7B-4644-A908-3E46F17FD389}" srcOrd="1" destOrd="0" presId="urn:microsoft.com/office/officeart/2018/2/layout/IconLabelList"/>
    <dgm:cxn modelId="{C979FFB5-B336-4075-B5DD-973FDAE5DD9D}" type="presParOf" srcId="{346A1634-77A1-4E8E-8EED-13E830B3FEC8}" destId="{2D037236-E0E5-4823-B0B4-4A8902264C54}" srcOrd="2" destOrd="0" presId="urn:microsoft.com/office/officeart/2018/2/layout/IconLabelList"/>
    <dgm:cxn modelId="{AE66E6C8-8DAF-47B2-8B2F-17B3780217ED}" type="presParOf" srcId="{2D037236-E0E5-4823-B0B4-4A8902264C54}" destId="{A8F0667E-5DB8-4AB9-BBD9-3DB4CD1E5A5F}" srcOrd="0" destOrd="0" presId="urn:microsoft.com/office/officeart/2018/2/layout/IconLabelList"/>
    <dgm:cxn modelId="{02F625EE-6A5C-47DE-ACA9-01557B0D7DA9}" type="presParOf" srcId="{2D037236-E0E5-4823-B0B4-4A8902264C54}" destId="{35427151-6BF7-41C3-AF16-409A7D9E2B79}" srcOrd="1" destOrd="0" presId="urn:microsoft.com/office/officeart/2018/2/layout/IconLabelList"/>
    <dgm:cxn modelId="{11668EA8-3F04-487D-B877-3FE50523BCF4}" type="presParOf" srcId="{2D037236-E0E5-4823-B0B4-4A8902264C54}" destId="{814A005C-A483-4C9B-8FF4-41F1F35246CD}" srcOrd="2" destOrd="0" presId="urn:microsoft.com/office/officeart/2018/2/layout/IconLabelList"/>
    <dgm:cxn modelId="{C2BEDE6B-545A-48BC-BFB1-8941FF2AF20E}" type="presParOf" srcId="{346A1634-77A1-4E8E-8EED-13E830B3FEC8}" destId="{F6C60624-E58F-40BC-91A4-71C0ACAA0354}" srcOrd="3" destOrd="0" presId="urn:microsoft.com/office/officeart/2018/2/layout/IconLabelList"/>
    <dgm:cxn modelId="{71F793C6-8F5B-4A94-8FA0-B125935FE4A6}" type="presParOf" srcId="{346A1634-77A1-4E8E-8EED-13E830B3FEC8}" destId="{511ED561-3E31-4026-B510-4D30BDAB0671}" srcOrd="4" destOrd="0" presId="urn:microsoft.com/office/officeart/2018/2/layout/IconLabelList"/>
    <dgm:cxn modelId="{2AD0E897-7093-4ABC-9373-33351739E5DA}" type="presParOf" srcId="{511ED561-3E31-4026-B510-4D30BDAB0671}" destId="{7B00563D-8E73-4CE6-B2A0-863A0BD76BA2}" srcOrd="0" destOrd="0" presId="urn:microsoft.com/office/officeart/2018/2/layout/IconLabelList"/>
    <dgm:cxn modelId="{09BBC085-A92A-43DE-956B-5CBB7DC55D07}" type="presParOf" srcId="{511ED561-3E31-4026-B510-4D30BDAB0671}" destId="{10A6E141-17CE-4E66-B4EB-858ED0887F7B}" srcOrd="1" destOrd="0" presId="urn:microsoft.com/office/officeart/2018/2/layout/IconLabelList"/>
    <dgm:cxn modelId="{C0FC992B-986E-439F-8C28-E7667F4F62B8}" type="presParOf" srcId="{511ED561-3E31-4026-B510-4D30BDAB0671}" destId="{5FEA3E94-3C58-4A3F-8C58-ED67CE08677D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5D466F-8580-48FA-B979-AF6B30A05B21}">
      <dsp:nvSpPr>
        <dsp:cNvPr id="0" name=""/>
        <dsp:cNvSpPr/>
      </dsp:nvSpPr>
      <dsp:spPr>
        <a:xfrm>
          <a:off x="0" y="493"/>
          <a:ext cx="9404352" cy="1155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C96F0B-FEAA-424C-9B40-6524D0165201}">
      <dsp:nvSpPr>
        <dsp:cNvPr id="0" name=""/>
        <dsp:cNvSpPr/>
      </dsp:nvSpPr>
      <dsp:spPr>
        <a:xfrm>
          <a:off x="349665" y="260575"/>
          <a:ext cx="635755" cy="63575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A37AB-30E8-4986-AA4E-1BC8A91E3713}">
      <dsp:nvSpPr>
        <dsp:cNvPr id="0" name=""/>
        <dsp:cNvSpPr/>
      </dsp:nvSpPr>
      <dsp:spPr>
        <a:xfrm>
          <a:off x="1335086" y="493"/>
          <a:ext cx="8069265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Avoiding Data Redundancy</a:t>
          </a:r>
          <a:endParaRPr lang="en-US" sz="1900" kern="1200"/>
        </a:p>
      </dsp:txBody>
      <dsp:txXfrm>
        <a:off x="1335086" y="493"/>
        <a:ext cx="8069265" cy="1155919"/>
      </dsp:txXfrm>
    </dsp:sp>
    <dsp:sp modelId="{603AA2B1-A944-4EB2-9E21-2E5DC23FC350}">
      <dsp:nvSpPr>
        <dsp:cNvPr id="0" name=""/>
        <dsp:cNvSpPr/>
      </dsp:nvSpPr>
      <dsp:spPr>
        <a:xfrm>
          <a:off x="0" y="1445393"/>
          <a:ext cx="9404352" cy="1155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7CEA8D-9BAB-45F3-AE8E-85D318D22FA8}">
      <dsp:nvSpPr>
        <dsp:cNvPr id="0" name=""/>
        <dsp:cNvSpPr/>
      </dsp:nvSpPr>
      <dsp:spPr>
        <a:xfrm>
          <a:off x="349665" y="1705475"/>
          <a:ext cx="635755" cy="63575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E1CEB5-A357-49F0-834B-1600ABFF70BD}">
      <dsp:nvSpPr>
        <dsp:cNvPr id="0" name=""/>
        <dsp:cNvSpPr/>
      </dsp:nvSpPr>
      <dsp:spPr>
        <a:xfrm>
          <a:off x="1335086" y="1445393"/>
          <a:ext cx="8069265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Without relationships, data must be repeated in multiple places, leading to inefficiencies and inconsistencies.</a:t>
          </a:r>
        </a:p>
      </dsp:txBody>
      <dsp:txXfrm>
        <a:off x="1335086" y="1445393"/>
        <a:ext cx="8069265" cy="1155919"/>
      </dsp:txXfrm>
    </dsp:sp>
    <dsp:sp modelId="{56F83C96-B8EE-4B93-85FE-9093D2E1C80E}">
      <dsp:nvSpPr>
        <dsp:cNvPr id="0" name=""/>
        <dsp:cNvSpPr/>
      </dsp:nvSpPr>
      <dsp:spPr>
        <a:xfrm>
          <a:off x="0" y="2890292"/>
          <a:ext cx="9404352" cy="11559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B02985-E493-4E73-B15D-9765D53241A2}">
      <dsp:nvSpPr>
        <dsp:cNvPr id="0" name=""/>
        <dsp:cNvSpPr/>
      </dsp:nvSpPr>
      <dsp:spPr>
        <a:xfrm>
          <a:off x="349665" y="3150374"/>
          <a:ext cx="635755" cy="63575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EDF922-D3B3-4A5A-8DA3-6BDB04A4CDF0}">
      <dsp:nvSpPr>
        <dsp:cNvPr id="0" name=""/>
        <dsp:cNvSpPr/>
      </dsp:nvSpPr>
      <dsp:spPr>
        <a:xfrm>
          <a:off x="1335086" y="2890292"/>
          <a:ext cx="8069265" cy="11559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335" tIns="122335" rIns="122335" bIns="122335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Example</a:t>
          </a:r>
          <a:r>
            <a:rPr lang="en-US" sz="1900" kern="1200"/>
            <a:t>: Instead of storing a customer's information in every sales transaction, a </a:t>
          </a:r>
          <a:r>
            <a:rPr lang="en-US" sz="1900" b="1" kern="1200"/>
            <a:t>Customer ID</a:t>
          </a:r>
          <a:r>
            <a:rPr lang="en-US" sz="1900" kern="1200"/>
            <a:t> can </a:t>
          </a:r>
          <a:r>
            <a:rPr lang="en-US" sz="1900" u="sng" kern="1200"/>
            <a:t>link</a:t>
          </a:r>
          <a:r>
            <a:rPr lang="en-US" sz="1900" kern="1200"/>
            <a:t> transactions to a </a:t>
          </a:r>
          <a:r>
            <a:rPr lang="en-US" sz="1900" i="1" kern="1200"/>
            <a:t>central</a:t>
          </a:r>
          <a:r>
            <a:rPr lang="en-US" sz="1900" kern="1200"/>
            <a:t> customer table.</a:t>
          </a:r>
        </a:p>
      </dsp:txBody>
      <dsp:txXfrm>
        <a:off x="1335086" y="2890292"/>
        <a:ext cx="8069265" cy="11559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850FD7-E847-409F-8D62-5C0596A60B32}">
      <dsp:nvSpPr>
        <dsp:cNvPr id="0" name=""/>
        <dsp:cNvSpPr/>
      </dsp:nvSpPr>
      <dsp:spPr>
        <a:xfrm>
          <a:off x="0" y="1679"/>
          <a:ext cx="9404352" cy="8512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DB5F57-3752-4D1D-A93D-E6ED6D97CE95}">
      <dsp:nvSpPr>
        <dsp:cNvPr id="0" name=""/>
        <dsp:cNvSpPr/>
      </dsp:nvSpPr>
      <dsp:spPr>
        <a:xfrm>
          <a:off x="257497" y="193206"/>
          <a:ext cx="468177" cy="46817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BD0823-0807-48E7-8118-FD8408648870}">
      <dsp:nvSpPr>
        <dsp:cNvPr id="0" name=""/>
        <dsp:cNvSpPr/>
      </dsp:nvSpPr>
      <dsp:spPr>
        <a:xfrm>
          <a:off x="983171" y="1679"/>
          <a:ext cx="8421180" cy="851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89" tIns="90089" rIns="90089" bIns="9008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Improving Query Performance</a:t>
          </a:r>
          <a:endParaRPr lang="en-US" sz="1700" kern="1200"/>
        </a:p>
      </dsp:txBody>
      <dsp:txXfrm>
        <a:off x="983171" y="1679"/>
        <a:ext cx="8421180" cy="851230"/>
      </dsp:txXfrm>
    </dsp:sp>
    <dsp:sp modelId="{D7F062F5-D51F-453F-A0F8-C28B6102F284}">
      <dsp:nvSpPr>
        <dsp:cNvPr id="0" name=""/>
        <dsp:cNvSpPr/>
      </dsp:nvSpPr>
      <dsp:spPr>
        <a:xfrm>
          <a:off x="0" y="1065718"/>
          <a:ext cx="9404352" cy="8512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4C2A3C-FBFD-4F8E-9B08-B0D4D23D731B}">
      <dsp:nvSpPr>
        <dsp:cNvPr id="0" name=""/>
        <dsp:cNvSpPr/>
      </dsp:nvSpPr>
      <dsp:spPr>
        <a:xfrm>
          <a:off x="257497" y="1257245"/>
          <a:ext cx="468177" cy="46817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97A3BE-F991-4613-A4C9-B647B5AB874B}">
      <dsp:nvSpPr>
        <dsp:cNvPr id="0" name=""/>
        <dsp:cNvSpPr/>
      </dsp:nvSpPr>
      <dsp:spPr>
        <a:xfrm>
          <a:off x="983171" y="1065718"/>
          <a:ext cx="8421180" cy="851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89" tIns="90089" rIns="90089" bIns="9008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Properly structured relationships allow for </a:t>
          </a:r>
          <a:r>
            <a:rPr lang="en-US" sz="1700" b="1" kern="1200" dirty="0"/>
            <a:t>efficient queries</a:t>
          </a:r>
          <a:r>
            <a:rPr lang="en-US" sz="1700" kern="1200" dirty="0"/>
            <a:t> using JOINS</a:t>
          </a:r>
        </a:p>
      </dsp:txBody>
      <dsp:txXfrm>
        <a:off x="983171" y="1065718"/>
        <a:ext cx="8421180" cy="851230"/>
      </dsp:txXfrm>
    </dsp:sp>
    <dsp:sp modelId="{CC82F19A-1B89-4DD7-8AD7-B1D9B45613E7}">
      <dsp:nvSpPr>
        <dsp:cNvPr id="0" name=""/>
        <dsp:cNvSpPr/>
      </dsp:nvSpPr>
      <dsp:spPr>
        <a:xfrm>
          <a:off x="0" y="2129756"/>
          <a:ext cx="9404352" cy="8512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2548AF-6D11-4688-8EBC-D0CAC7FB5F26}">
      <dsp:nvSpPr>
        <dsp:cNvPr id="0" name=""/>
        <dsp:cNvSpPr/>
      </dsp:nvSpPr>
      <dsp:spPr>
        <a:xfrm>
          <a:off x="257497" y="2321283"/>
          <a:ext cx="468177" cy="46817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EC5DDB-C1E8-407D-8C59-B25D3A32C638}">
      <dsp:nvSpPr>
        <dsp:cNvPr id="0" name=""/>
        <dsp:cNvSpPr/>
      </dsp:nvSpPr>
      <dsp:spPr>
        <a:xfrm>
          <a:off x="983171" y="2129756"/>
          <a:ext cx="8421180" cy="851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89" tIns="90089" rIns="90089" bIns="9008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Avoid overtaxing processing scanning large duplicated datasets.</a:t>
          </a:r>
        </a:p>
      </dsp:txBody>
      <dsp:txXfrm>
        <a:off x="983171" y="2129756"/>
        <a:ext cx="8421180" cy="851230"/>
      </dsp:txXfrm>
    </dsp:sp>
    <dsp:sp modelId="{D72F9813-84A8-4531-92E6-1832D839937B}">
      <dsp:nvSpPr>
        <dsp:cNvPr id="0" name=""/>
        <dsp:cNvSpPr/>
      </dsp:nvSpPr>
      <dsp:spPr>
        <a:xfrm>
          <a:off x="0" y="3193795"/>
          <a:ext cx="9404352" cy="85123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F319E87-E8DD-4F33-B10A-4F9AEAF2EECA}">
      <dsp:nvSpPr>
        <dsp:cNvPr id="0" name=""/>
        <dsp:cNvSpPr/>
      </dsp:nvSpPr>
      <dsp:spPr>
        <a:xfrm>
          <a:off x="257497" y="3385322"/>
          <a:ext cx="468177" cy="46817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965B77-E07D-423B-ACBA-CE84B7C362AA}">
      <dsp:nvSpPr>
        <dsp:cNvPr id="0" name=""/>
        <dsp:cNvSpPr/>
      </dsp:nvSpPr>
      <dsp:spPr>
        <a:xfrm>
          <a:off x="983171" y="3193795"/>
          <a:ext cx="8421180" cy="8512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0089" tIns="90089" rIns="90089" bIns="90089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Example</a:t>
          </a:r>
          <a:r>
            <a:rPr lang="en-US" sz="1700" kern="1200" dirty="0"/>
            <a:t>: A relational database can quickly pull </a:t>
          </a:r>
          <a:r>
            <a:rPr lang="en-US" sz="1700" b="1" kern="1200" dirty="0"/>
            <a:t>all</a:t>
          </a:r>
          <a:r>
            <a:rPr lang="en-US" sz="1700" kern="1200" dirty="0"/>
            <a:t> orders for a customer using </a:t>
          </a:r>
          <a:r>
            <a:rPr lang="en-US" sz="1700" u="sng" kern="1200" dirty="0"/>
            <a:t>the related columns</a:t>
          </a:r>
          <a:r>
            <a:rPr lang="en-US" sz="1700" u="none" kern="1200" dirty="0"/>
            <a:t> </a:t>
          </a:r>
          <a:r>
            <a:rPr lang="en-US" sz="1700" kern="1200" dirty="0"/>
            <a:t>indexed rather than searching an </a:t>
          </a:r>
          <a:r>
            <a:rPr lang="en-US" sz="1700" u="sng" kern="1200" dirty="0"/>
            <a:t>entire</a:t>
          </a:r>
          <a:r>
            <a:rPr lang="en-US" sz="1700" kern="1200" dirty="0"/>
            <a:t> orders table.</a:t>
          </a:r>
        </a:p>
      </dsp:txBody>
      <dsp:txXfrm>
        <a:off x="983171" y="3193795"/>
        <a:ext cx="8421180" cy="8512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042C2F-0129-4433-AC8C-DFFCF0E32BB7}">
      <dsp:nvSpPr>
        <dsp:cNvPr id="0" name=""/>
        <dsp:cNvSpPr/>
      </dsp:nvSpPr>
      <dsp:spPr>
        <a:xfrm>
          <a:off x="938072" y="333149"/>
          <a:ext cx="1449518" cy="144951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0C9594-CF6E-44D3-ACD0-59B94D2DA1F3}">
      <dsp:nvSpPr>
        <dsp:cNvPr id="0" name=""/>
        <dsp:cNvSpPr/>
      </dsp:nvSpPr>
      <dsp:spPr>
        <a:xfrm>
          <a:off x="52256" y="2193627"/>
          <a:ext cx="3221151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Enabling Business Intelligence &amp; Reporting</a:t>
          </a:r>
          <a:endParaRPr lang="en-US" sz="1400" kern="1200" dirty="0"/>
        </a:p>
      </dsp:txBody>
      <dsp:txXfrm>
        <a:off x="52256" y="2193627"/>
        <a:ext cx="3221151" cy="877500"/>
      </dsp:txXfrm>
    </dsp:sp>
    <dsp:sp modelId="{A8F0667E-5DB8-4AB9-BBD9-3DB4CD1E5A5F}">
      <dsp:nvSpPr>
        <dsp:cNvPr id="0" name=""/>
        <dsp:cNvSpPr/>
      </dsp:nvSpPr>
      <dsp:spPr>
        <a:xfrm>
          <a:off x="4722925" y="333149"/>
          <a:ext cx="1449518" cy="144951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4A005C-A483-4C9B-8FF4-41F1F35246CD}">
      <dsp:nvSpPr>
        <dsp:cNvPr id="0" name=""/>
        <dsp:cNvSpPr/>
      </dsp:nvSpPr>
      <dsp:spPr>
        <a:xfrm>
          <a:off x="3837109" y="2193627"/>
          <a:ext cx="3221151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Relational data models allow for </a:t>
          </a:r>
          <a:r>
            <a:rPr lang="en-US" sz="1400" b="1" kern="1200" dirty="0"/>
            <a:t>aggregations, trend analysis, and insights</a:t>
          </a:r>
          <a:endParaRPr lang="en-US" sz="1400" kern="1200" dirty="0"/>
        </a:p>
      </dsp:txBody>
      <dsp:txXfrm>
        <a:off x="3837109" y="2193627"/>
        <a:ext cx="3221151" cy="877500"/>
      </dsp:txXfrm>
    </dsp:sp>
    <dsp:sp modelId="{7B00563D-8E73-4CE6-B2A0-863A0BD76BA2}">
      <dsp:nvSpPr>
        <dsp:cNvPr id="0" name=""/>
        <dsp:cNvSpPr/>
      </dsp:nvSpPr>
      <dsp:spPr>
        <a:xfrm>
          <a:off x="8507778" y="333149"/>
          <a:ext cx="1449518" cy="144951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EA3E94-3C58-4A3F-8C58-ED67CE08677D}">
      <dsp:nvSpPr>
        <dsp:cNvPr id="0" name=""/>
        <dsp:cNvSpPr/>
      </dsp:nvSpPr>
      <dsp:spPr>
        <a:xfrm>
          <a:off x="7621962" y="2193627"/>
          <a:ext cx="3221151" cy="87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Example: A company can analyze </a:t>
          </a:r>
          <a:r>
            <a:rPr lang="en-US" sz="1400" b="1" kern="1200"/>
            <a:t>sales per region</a:t>
          </a:r>
          <a:r>
            <a:rPr lang="en-US" sz="1400" kern="1200"/>
            <a:t> by relating </a:t>
          </a:r>
          <a:r>
            <a:rPr lang="en-US" sz="1400" b="1" kern="1200"/>
            <a:t>Sales Transactions</a:t>
          </a:r>
          <a:r>
            <a:rPr lang="en-US" sz="1400" kern="1200"/>
            <a:t> to </a:t>
          </a:r>
          <a:r>
            <a:rPr lang="en-US" sz="1400" b="1" kern="1200"/>
            <a:t>Customers</a:t>
          </a:r>
          <a:r>
            <a:rPr lang="en-US" sz="1400" kern="1200"/>
            <a:t> and </a:t>
          </a:r>
          <a:r>
            <a:rPr lang="en-US" sz="1400" b="1" kern="1200"/>
            <a:t>Regions</a:t>
          </a:r>
          <a:r>
            <a:rPr lang="en-US" sz="1400" kern="1200"/>
            <a:t> tables.</a:t>
          </a:r>
        </a:p>
      </dsp:txBody>
      <dsp:txXfrm>
        <a:off x="7621962" y="2193627"/>
        <a:ext cx="3221151" cy="877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19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34149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28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258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7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341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279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990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713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5218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558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10215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196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2304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02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12634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396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EB1EDF9-E559-48D6-AFD1-99EA54389B5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1C65FD-4885-4EAE-B46C-4D8D0AD5C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39384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7000"/>
                <a:hueMod val="88000"/>
                <a:satMod val="130000"/>
                <a:lumMod val="124000"/>
              </a:schemeClr>
            </a:gs>
            <a:gs pos="100000">
              <a:schemeClr val="bg2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E27238C-8EAF-4098-86E6-7723B7DAE6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36">
            <a:extLst>
              <a:ext uri="{FF2B5EF4-FFF2-40B4-BE49-F238E27FC236}">
                <a16:creationId xmlns:a16="http://schemas.microsoft.com/office/drawing/2014/main" id="{992F97B1-1891-4FCC-9E5F-BA97EDB48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351010" y="0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2">
              <a:lumMod val="60000"/>
              <a:lumOff val="40000"/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78C6C821-FEE1-4EB6-9590-C021440C7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175" y="0"/>
            <a:ext cx="9700459" cy="6858001"/>
          </a:xfrm>
          <a:custGeom>
            <a:avLst/>
            <a:gdLst>
              <a:gd name="connsiteX0" fmla="*/ 0 w 9700459"/>
              <a:gd name="connsiteY0" fmla="*/ 0 h 6858001"/>
              <a:gd name="connsiteX1" fmla="*/ 1323975 w 9700459"/>
              <a:gd name="connsiteY1" fmla="*/ 0 h 6858001"/>
              <a:gd name="connsiteX2" fmla="*/ 1517015 w 9700459"/>
              <a:gd name="connsiteY2" fmla="*/ 0 h 6858001"/>
              <a:gd name="connsiteX3" fmla="*/ 3241265 w 9700459"/>
              <a:gd name="connsiteY3" fmla="*/ 0 h 6858001"/>
              <a:gd name="connsiteX4" fmla="*/ 3241265 w 9700459"/>
              <a:gd name="connsiteY4" fmla="*/ 1 h 6858001"/>
              <a:gd name="connsiteX5" fmla="*/ 8355744 w 9700459"/>
              <a:gd name="connsiteY5" fmla="*/ 1 h 6858001"/>
              <a:gd name="connsiteX6" fmla="*/ 8355744 w 9700459"/>
              <a:gd name="connsiteY6" fmla="*/ 0 h 6858001"/>
              <a:gd name="connsiteX7" fmla="*/ 9699282 w 9700459"/>
              <a:gd name="connsiteY7" fmla="*/ 0 h 6858001"/>
              <a:gd name="connsiteX8" fmla="*/ 9674237 w 9700459"/>
              <a:gd name="connsiteY8" fmla="*/ 155677 h 6858001"/>
              <a:gd name="connsiteX9" fmla="*/ 9650368 w 9700459"/>
              <a:gd name="connsiteY9" fmla="*/ 310668 h 6858001"/>
              <a:gd name="connsiteX10" fmla="*/ 9627004 w 9700459"/>
              <a:gd name="connsiteY10" fmla="*/ 466344 h 6858001"/>
              <a:gd name="connsiteX11" fmla="*/ 9607001 w 9700459"/>
              <a:gd name="connsiteY11" fmla="*/ 622707 h 6858001"/>
              <a:gd name="connsiteX12" fmla="*/ 9586830 w 9700459"/>
              <a:gd name="connsiteY12" fmla="*/ 778383 h 6858001"/>
              <a:gd name="connsiteX13" fmla="*/ 9568004 w 9700459"/>
              <a:gd name="connsiteY13" fmla="*/ 934746 h 6858001"/>
              <a:gd name="connsiteX14" fmla="*/ 9551868 w 9700459"/>
              <a:gd name="connsiteY14" fmla="*/ 1089051 h 6858001"/>
              <a:gd name="connsiteX15" fmla="*/ 9536572 w 9700459"/>
              <a:gd name="connsiteY15" fmla="*/ 1245413 h 6858001"/>
              <a:gd name="connsiteX16" fmla="*/ 9522620 w 9700459"/>
              <a:gd name="connsiteY16" fmla="*/ 1401090 h 6858001"/>
              <a:gd name="connsiteX17" fmla="*/ 9510518 w 9700459"/>
              <a:gd name="connsiteY17" fmla="*/ 1554023 h 6858001"/>
              <a:gd name="connsiteX18" fmla="*/ 9498415 w 9700459"/>
              <a:gd name="connsiteY18" fmla="*/ 1709014 h 6858001"/>
              <a:gd name="connsiteX19" fmla="*/ 9488330 w 9700459"/>
              <a:gd name="connsiteY19" fmla="*/ 1861947 h 6858001"/>
              <a:gd name="connsiteX20" fmla="*/ 9480430 w 9700459"/>
              <a:gd name="connsiteY20" fmla="*/ 2014881 h 6858001"/>
              <a:gd name="connsiteX21" fmla="*/ 9472193 w 9700459"/>
              <a:gd name="connsiteY21" fmla="*/ 2167128 h 6858001"/>
              <a:gd name="connsiteX22" fmla="*/ 9465302 w 9700459"/>
              <a:gd name="connsiteY22" fmla="*/ 2318004 h 6858001"/>
              <a:gd name="connsiteX23" fmla="*/ 9460427 w 9700459"/>
              <a:gd name="connsiteY23" fmla="*/ 2467509 h 6858001"/>
              <a:gd name="connsiteX24" fmla="*/ 9456225 w 9700459"/>
              <a:gd name="connsiteY24" fmla="*/ 2617013 h 6858001"/>
              <a:gd name="connsiteX25" fmla="*/ 9452191 w 9700459"/>
              <a:gd name="connsiteY25" fmla="*/ 2765146 h 6858001"/>
              <a:gd name="connsiteX26" fmla="*/ 9450342 w 9700459"/>
              <a:gd name="connsiteY26" fmla="*/ 2911221 h 6858001"/>
              <a:gd name="connsiteX27" fmla="*/ 9448325 w 9700459"/>
              <a:gd name="connsiteY27" fmla="*/ 3057297 h 6858001"/>
              <a:gd name="connsiteX28" fmla="*/ 9447316 w 9700459"/>
              <a:gd name="connsiteY28" fmla="*/ 3201315 h 6858001"/>
              <a:gd name="connsiteX29" fmla="*/ 9448325 w 9700459"/>
              <a:gd name="connsiteY29" fmla="*/ 3343961 h 6858001"/>
              <a:gd name="connsiteX30" fmla="*/ 9448325 w 9700459"/>
              <a:gd name="connsiteY30" fmla="*/ 3485236 h 6858001"/>
              <a:gd name="connsiteX31" fmla="*/ 9450342 w 9700459"/>
              <a:gd name="connsiteY31" fmla="*/ 3625139 h 6858001"/>
              <a:gd name="connsiteX32" fmla="*/ 9453367 w 9700459"/>
              <a:gd name="connsiteY32" fmla="*/ 3762299 h 6858001"/>
              <a:gd name="connsiteX33" fmla="*/ 9456225 w 9700459"/>
              <a:gd name="connsiteY33" fmla="*/ 3898087 h 6858001"/>
              <a:gd name="connsiteX34" fmla="*/ 9459419 w 9700459"/>
              <a:gd name="connsiteY34" fmla="*/ 4031133 h 6858001"/>
              <a:gd name="connsiteX35" fmla="*/ 9464293 w 9700459"/>
              <a:gd name="connsiteY35" fmla="*/ 4163492 h 6858001"/>
              <a:gd name="connsiteX36" fmla="*/ 9469504 w 9700459"/>
              <a:gd name="connsiteY36" fmla="*/ 4293793 h 6858001"/>
              <a:gd name="connsiteX37" fmla="*/ 9474210 w 9700459"/>
              <a:gd name="connsiteY37" fmla="*/ 4421352 h 6858001"/>
              <a:gd name="connsiteX38" fmla="*/ 9487490 w 9700459"/>
              <a:gd name="connsiteY38" fmla="*/ 4670298 h 6858001"/>
              <a:gd name="connsiteX39" fmla="*/ 9501609 w 9700459"/>
              <a:gd name="connsiteY39" fmla="*/ 4908956 h 6858001"/>
              <a:gd name="connsiteX40" fmla="*/ 9516401 w 9700459"/>
              <a:gd name="connsiteY40" fmla="*/ 5138013 h 6858001"/>
              <a:gd name="connsiteX41" fmla="*/ 9532706 w 9700459"/>
              <a:gd name="connsiteY41" fmla="*/ 5354726 h 6858001"/>
              <a:gd name="connsiteX42" fmla="*/ 9549683 w 9700459"/>
              <a:gd name="connsiteY42" fmla="*/ 5561838 h 6858001"/>
              <a:gd name="connsiteX43" fmla="*/ 9568004 w 9700459"/>
              <a:gd name="connsiteY43" fmla="*/ 5753862 h 6858001"/>
              <a:gd name="connsiteX44" fmla="*/ 9585990 w 9700459"/>
              <a:gd name="connsiteY44" fmla="*/ 5934227 h 6858001"/>
              <a:gd name="connsiteX45" fmla="*/ 9603975 w 9700459"/>
              <a:gd name="connsiteY45" fmla="*/ 6100191 h 6858001"/>
              <a:gd name="connsiteX46" fmla="*/ 9620952 w 9700459"/>
              <a:gd name="connsiteY46" fmla="*/ 6252438 h 6858001"/>
              <a:gd name="connsiteX47" fmla="*/ 9637089 w 9700459"/>
              <a:gd name="connsiteY47" fmla="*/ 6387541 h 6858001"/>
              <a:gd name="connsiteX48" fmla="*/ 9652385 w 9700459"/>
              <a:gd name="connsiteY48" fmla="*/ 6509613 h 6858001"/>
              <a:gd name="connsiteX49" fmla="*/ 9665160 w 9700459"/>
              <a:gd name="connsiteY49" fmla="*/ 6612483 h 6858001"/>
              <a:gd name="connsiteX50" fmla="*/ 9677262 w 9700459"/>
              <a:gd name="connsiteY50" fmla="*/ 6698894 h 6858001"/>
              <a:gd name="connsiteX51" fmla="*/ 9694576 w 9700459"/>
              <a:gd name="connsiteY51" fmla="*/ 6817538 h 6858001"/>
              <a:gd name="connsiteX52" fmla="*/ 9700459 w 9700459"/>
              <a:gd name="connsiteY52" fmla="*/ 6858000 h 6858001"/>
              <a:gd name="connsiteX53" fmla="*/ 8795105 w 9700459"/>
              <a:gd name="connsiteY53" fmla="*/ 6858000 h 6858001"/>
              <a:gd name="connsiteX54" fmla="*/ 8795105 w 9700459"/>
              <a:gd name="connsiteY54" fmla="*/ 6858001 h 6858001"/>
              <a:gd name="connsiteX55" fmla="*/ 2704541 w 9700459"/>
              <a:gd name="connsiteY55" fmla="*/ 6858001 h 6858001"/>
              <a:gd name="connsiteX56" fmla="*/ 2704541 w 9700459"/>
              <a:gd name="connsiteY56" fmla="*/ 6858000 h 6858001"/>
              <a:gd name="connsiteX57" fmla="*/ 1517015 w 9700459"/>
              <a:gd name="connsiteY57" fmla="*/ 6858000 h 6858001"/>
              <a:gd name="connsiteX58" fmla="*/ 1323975 w 9700459"/>
              <a:gd name="connsiteY58" fmla="*/ 6858000 h 6858001"/>
              <a:gd name="connsiteX59" fmla="*/ 0 w 9700459"/>
              <a:gd name="connsiteY5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9700459" h="6858001">
                <a:moveTo>
                  <a:pt x="0" y="0"/>
                </a:moveTo>
                <a:lnTo>
                  <a:pt x="1323975" y="0"/>
                </a:lnTo>
                <a:lnTo>
                  <a:pt x="1517015" y="0"/>
                </a:lnTo>
                <a:lnTo>
                  <a:pt x="3241265" y="0"/>
                </a:lnTo>
                <a:lnTo>
                  <a:pt x="3241265" y="1"/>
                </a:lnTo>
                <a:lnTo>
                  <a:pt x="8355744" y="1"/>
                </a:lnTo>
                <a:lnTo>
                  <a:pt x="8355744" y="0"/>
                </a:lnTo>
                <a:lnTo>
                  <a:pt x="9699282" y="0"/>
                </a:lnTo>
                <a:lnTo>
                  <a:pt x="9674237" y="155677"/>
                </a:lnTo>
                <a:lnTo>
                  <a:pt x="9650368" y="310668"/>
                </a:lnTo>
                <a:lnTo>
                  <a:pt x="9627004" y="466344"/>
                </a:lnTo>
                <a:lnTo>
                  <a:pt x="9607001" y="622707"/>
                </a:lnTo>
                <a:lnTo>
                  <a:pt x="9586830" y="778383"/>
                </a:lnTo>
                <a:lnTo>
                  <a:pt x="9568004" y="934746"/>
                </a:lnTo>
                <a:lnTo>
                  <a:pt x="9551868" y="1089051"/>
                </a:lnTo>
                <a:lnTo>
                  <a:pt x="9536572" y="1245413"/>
                </a:lnTo>
                <a:lnTo>
                  <a:pt x="9522620" y="1401090"/>
                </a:lnTo>
                <a:lnTo>
                  <a:pt x="9510518" y="1554023"/>
                </a:lnTo>
                <a:lnTo>
                  <a:pt x="9498415" y="1709014"/>
                </a:lnTo>
                <a:lnTo>
                  <a:pt x="9488330" y="1861947"/>
                </a:lnTo>
                <a:lnTo>
                  <a:pt x="9480430" y="2014881"/>
                </a:lnTo>
                <a:lnTo>
                  <a:pt x="9472193" y="2167128"/>
                </a:lnTo>
                <a:lnTo>
                  <a:pt x="9465302" y="2318004"/>
                </a:lnTo>
                <a:lnTo>
                  <a:pt x="9460427" y="2467509"/>
                </a:lnTo>
                <a:lnTo>
                  <a:pt x="9456225" y="2617013"/>
                </a:lnTo>
                <a:lnTo>
                  <a:pt x="9452191" y="2765146"/>
                </a:lnTo>
                <a:lnTo>
                  <a:pt x="9450342" y="2911221"/>
                </a:lnTo>
                <a:lnTo>
                  <a:pt x="9448325" y="3057297"/>
                </a:lnTo>
                <a:lnTo>
                  <a:pt x="9447316" y="3201315"/>
                </a:lnTo>
                <a:lnTo>
                  <a:pt x="9448325" y="3343961"/>
                </a:lnTo>
                <a:lnTo>
                  <a:pt x="9448325" y="3485236"/>
                </a:lnTo>
                <a:lnTo>
                  <a:pt x="9450342" y="3625139"/>
                </a:lnTo>
                <a:lnTo>
                  <a:pt x="9453367" y="3762299"/>
                </a:lnTo>
                <a:lnTo>
                  <a:pt x="9456225" y="3898087"/>
                </a:lnTo>
                <a:lnTo>
                  <a:pt x="9459419" y="4031133"/>
                </a:lnTo>
                <a:lnTo>
                  <a:pt x="9464293" y="4163492"/>
                </a:lnTo>
                <a:lnTo>
                  <a:pt x="9469504" y="4293793"/>
                </a:lnTo>
                <a:lnTo>
                  <a:pt x="9474210" y="4421352"/>
                </a:lnTo>
                <a:lnTo>
                  <a:pt x="9487490" y="4670298"/>
                </a:lnTo>
                <a:lnTo>
                  <a:pt x="9501609" y="4908956"/>
                </a:lnTo>
                <a:lnTo>
                  <a:pt x="9516401" y="5138013"/>
                </a:lnTo>
                <a:lnTo>
                  <a:pt x="9532706" y="5354726"/>
                </a:lnTo>
                <a:lnTo>
                  <a:pt x="9549683" y="5561838"/>
                </a:lnTo>
                <a:lnTo>
                  <a:pt x="9568004" y="5753862"/>
                </a:lnTo>
                <a:lnTo>
                  <a:pt x="9585990" y="5934227"/>
                </a:lnTo>
                <a:lnTo>
                  <a:pt x="9603975" y="6100191"/>
                </a:lnTo>
                <a:lnTo>
                  <a:pt x="9620952" y="6252438"/>
                </a:lnTo>
                <a:lnTo>
                  <a:pt x="9637089" y="6387541"/>
                </a:lnTo>
                <a:lnTo>
                  <a:pt x="9652385" y="6509613"/>
                </a:lnTo>
                <a:lnTo>
                  <a:pt x="9665160" y="6612483"/>
                </a:lnTo>
                <a:lnTo>
                  <a:pt x="9677262" y="6698894"/>
                </a:lnTo>
                <a:lnTo>
                  <a:pt x="9694576" y="6817538"/>
                </a:lnTo>
                <a:lnTo>
                  <a:pt x="9700459" y="6858000"/>
                </a:lnTo>
                <a:lnTo>
                  <a:pt x="8795105" y="6858000"/>
                </a:lnTo>
                <a:lnTo>
                  <a:pt x="8795105" y="6858001"/>
                </a:lnTo>
                <a:lnTo>
                  <a:pt x="2704541" y="6858001"/>
                </a:lnTo>
                <a:lnTo>
                  <a:pt x="2704541" y="6858000"/>
                </a:lnTo>
                <a:lnTo>
                  <a:pt x="1517015" y="6858000"/>
                </a:lnTo>
                <a:lnTo>
                  <a:pt x="132397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0A2A56-1B14-80F8-0100-5CD9A098F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6974911" cy="861420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</a:rPr>
              <a:t>Power BI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33CBEE-D8A9-C243-3B08-9CDAC377A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6974915" cy="3329581"/>
          </a:xfrm>
        </p:spPr>
        <p:txBody>
          <a:bodyPr>
            <a:normAutofit/>
          </a:bodyPr>
          <a:lstStyle/>
          <a:p>
            <a:r>
              <a:rPr lang="en-US" dirty="0"/>
              <a:t>Modeling &amp; Relationships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1A74B3-E247-44D4-8C48-FAE8E2056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852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F19BAF3-7E20-4B9D-B544-BABAEEA1F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0648F4-ABCD-4DF0-8641-76CFB23547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89BE678-777B-482A-A616-FEDC47B162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F1EB4BD-9C7E-4AA3-9681-C7EB0DA625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94AAE3AA-3759-4D28-B0EF-575F25A51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D28BE0C3-2102-4820-B88B-A448B184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5" name="Picture 4" descr="Wood human figure">
            <a:extLst>
              <a:ext uri="{FF2B5EF4-FFF2-40B4-BE49-F238E27FC236}">
                <a16:creationId xmlns:a16="http://schemas.microsoft.com/office/drawing/2014/main" id="{E781E624-A19F-B368-FBDC-0307BDB91015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5">
                <a:tint val="45000"/>
                <a:satMod val="400000"/>
              </a:schemeClr>
            </a:duotone>
            <a:alphaModFix amt="25000"/>
          </a:blip>
          <a:srcRect t="4287" b="11443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EE48DE-7BB5-8EB1-549A-1A0AB8484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5" y="1447800"/>
            <a:ext cx="8825658" cy="33295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/>
              <a:t>Why Create Relationships?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851B63-D6CD-DD10-6650-9E01A46FB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4955" y="4777380"/>
            <a:ext cx="8825658" cy="86142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85E190-58DD-42DD-A4A8-401E15C92A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91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A7B9-0A34-B812-CC0D-98CE43CD4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Why Create Relationships?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7FF753-ABA9-DA4D-162D-3A87D39952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8707455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5726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5D466F-8580-48FA-B979-AF6B30A05B2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7D5D466F-8580-48FA-B979-AF6B30A05B2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7C96F0B-FEAA-424C-9B40-6524D016520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87C96F0B-FEAA-424C-9B40-6524D0165201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FCDA37AB-30E8-4986-AA4E-1BC8A91E371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FCDA37AB-30E8-4986-AA4E-1BC8A91E371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603AA2B1-A944-4EB2-9E21-2E5DC23FC35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603AA2B1-A944-4EB2-9E21-2E5DC23FC35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4D7CEA8D-9BAB-45F3-AE8E-85D318D22FA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4D7CEA8D-9BAB-45F3-AE8E-85D318D22FA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18E1CEB5-A357-49F0-834B-1600ABFF70B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18E1CEB5-A357-49F0-834B-1600ABFF70B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7B02985-E493-4E73-B15D-9765D53241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77B02985-E493-4E73-B15D-9765D53241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6F83C96-B8EE-4B93-85FE-9093D2E1C80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56F83C96-B8EE-4B93-85FE-9093D2E1C80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3EDF922-D3B3-4A5A-8DA3-6BDB04A4CDF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23EDF922-D3B3-4A5A-8DA3-6BDB04A4CDF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7F109F-A2ED-FEA5-68AD-5C1EB8486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374C3-4044-126F-F36C-E1BE645E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>
            <a:normAutofit/>
          </a:bodyPr>
          <a:lstStyle/>
          <a:p>
            <a:r>
              <a:rPr lang="en-US"/>
              <a:t>Why Create Relationships?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76B0432-4689-B185-6065-D6601E7410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028275"/>
              </p:ext>
            </p:extLst>
          </p:nvPr>
        </p:nvGraphicFramePr>
        <p:xfrm>
          <a:off x="646111" y="2237362"/>
          <a:ext cx="9404352" cy="40467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568826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6850FD7-E847-409F-8D62-5C0596A60B3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6850FD7-E847-409F-8D62-5C0596A60B3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DDB5F57-3752-4D1D-A93D-E6ED6D97CE9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8DDB5F57-3752-4D1D-A93D-E6ED6D97CE9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29BD0823-0807-48E7-8118-FD84086488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graphicEl>
                                              <a:dgm id="{29BD0823-0807-48E7-8118-FD84086488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9A4C2A3C-FBFD-4F8E-9B08-B0D4D23D731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9A4C2A3C-FBFD-4F8E-9B08-B0D4D23D731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7F062F5-D51F-453F-A0F8-C28B6102F2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>
                                            <p:graphicEl>
                                              <a:dgm id="{D7F062F5-D51F-453F-A0F8-C28B6102F2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E97A3BE-F991-4613-A4C9-B647B5AB87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">
                                            <p:graphicEl>
                                              <a:dgm id="{7E97A3BE-F991-4613-A4C9-B647B5AB874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32548AF-6D11-4688-8EBC-D0CAC7FB5F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>
                                            <p:graphicEl>
                                              <a:dgm id="{C32548AF-6D11-4688-8EBC-D0CAC7FB5F26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CC82F19A-1B89-4DD7-8AD7-B1D9B45613E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>
                                            <p:graphicEl>
                                              <a:dgm id="{CC82F19A-1B89-4DD7-8AD7-B1D9B45613E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EBEC5DDB-C1E8-407D-8C59-B25D3A32C6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">
                                            <p:graphicEl>
                                              <a:dgm id="{EBEC5DDB-C1E8-407D-8C59-B25D3A32C63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72F9813-84A8-4531-92E6-1832D839937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">
                                            <p:graphicEl>
                                              <a:dgm id="{D72F9813-84A8-4531-92E6-1832D839937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F319E87-E8DD-4F33-B10A-4F9AEAF2EEC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>
                                            <p:graphicEl>
                                              <a:dgm id="{8F319E87-E8DD-4F33-B10A-4F9AEAF2EEC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2965B77-E07D-423B-ACBA-CE84B7C362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">
                                            <p:graphicEl>
                                              <a:dgm id="{A2965B77-E07D-423B-ACBA-CE84B7C362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F8BAB-D4FB-CA90-7A6C-BF5AC70E1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747F1B4-B831-4277-8AB0-32767F7EB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 7">
            <a:extLst>
              <a:ext uri="{FF2B5EF4-FFF2-40B4-BE49-F238E27FC236}">
                <a16:creationId xmlns:a16="http://schemas.microsoft.com/office/drawing/2014/main" id="{D80CFA21-AB7C-4BEB-9BFF-05764FBBF3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5638FC-6E33-9FF4-0DCB-C187D0639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EBEBEB"/>
                </a:solidFill>
              </a:rPr>
              <a:t>Why Create Relationships?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2F7E335-851A-4CAE-B09F-E657819D46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10B541F0-7F6E-402E-84D8-CF96EACA5F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" y="1762067"/>
            <a:ext cx="12192418" cy="5095933"/>
          </a:xfrm>
          <a:custGeom>
            <a:avLst/>
            <a:gdLst>
              <a:gd name="connsiteX0" fmla="*/ 1 w 12192418"/>
              <a:gd name="connsiteY0" fmla="*/ 0 h 5095933"/>
              <a:gd name="connsiteX1" fmla="*/ 71932 w 12192418"/>
              <a:gd name="connsiteY1" fmla="*/ 12261 h 5095933"/>
              <a:gd name="connsiteX2" fmla="*/ 282849 w 12192418"/>
              <a:gd name="connsiteY2" fmla="*/ 48343 h 5095933"/>
              <a:gd name="connsiteX3" fmla="*/ 436464 w 12192418"/>
              <a:gd name="connsiteY3" fmla="*/ 73565 h 5095933"/>
              <a:gd name="connsiteX4" fmla="*/ 619339 w 12192418"/>
              <a:gd name="connsiteY4" fmla="*/ 100188 h 5095933"/>
              <a:gd name="connsiteX5" fmla="*/ 836351 w 12192418"/>
              <a:gd name="connsiteY5" fmla="*/ 132066 h 5095933"/>
              <a:gd name="connsiteX6" fmla="*/ 1076528 w 12192418"/>
              <a:gd name="connsiteY6" fmla="*/ 165696 h 5095933"/>
              <a:gd name="connsiteX7" fmla="*/ 1347184 w 12192418"/>
              <a:gd name="connsiteY7" fmla="*/ 201077 h 5095933"/>
              <a:gd name="connsiteX8" fmla="*/ 1642223 w 12192418"/>
              <a:gd name="connsiteY8" fmla="*/ 238560 h 5095933"/>
              <a:gd name="connsiteX9" fmla="*/ 1962864 w 12192418"/>
              <a:gd name="connsiteY9" fmla="*/ 276043 h 5095933"/>
              <a:gd name="connsiteX10" fmla="*/ 2304232 w 12192418"/>
              <a:gd name="connsiteY10" fmla="*/ 314227 h 5095933"/>
              <a:gd name="connsiteX11" fmla="*/ 2672421 w 12192418"/>
              <a:gd name="connsiteY11" fmla="*/ 349608 h 5095933"/>
              <a:gd name="connsiteX12" fmla="*/ 3057678 w 12192418"/>
              <a:gd name="connsiteY12" fmla="*/ 383588 h 5095933"/>
              <a:gd name="connsiteX13" fmla="*/ 3464881 w 12192418"/>
              <a:gd name="connsiteY13" fmla="*/ 414415 h 5095933"/>
              <a:gd name="connsiteX14" fmla="*/ 3889152 w 12192418"/>
              <a:gd name="connsiteY14" fmla="*/ 443841 h 5095933"/>
              <a:gd name="connsiteX15" fmla="*/ 4331710 w 12192418"/>
              <a:gd name="connsiteY15" fmla="*/ 471515 h 5095933"/>
              <a:gd name="connsiteX16" fmla="*/ 4558476 w 12192418"/>
              <a:gd name="connsiteY16" fmla="*/ 481324 h 5095933"/>
              <a:gd name="connsiteX17" fmla="*/ 4790118 w 12192418"/>
              <a:gd name="connsiteY17" fmla="*/ 492183 h 5095933"/>
              <a:gd name="connsiteX18" fmla="*/ 5025418 w 12192418"/>
              <a:gd name="connsiteY18" fmla="*/ 502342 h 5095933"/>
              <a:gd name="connsiteX19" fmla="*/ 5261937 w 12192418"/>
              <a:gd name="connsiteY19" fmla="*/ 508998 h 5095933"/>
              <a:gd name="connsiteX20" fmla="*/ 5503332 w 12192418"/>
              <a:gd name="connsiteY20" fmla="*/ 514953 h 5095933"/>
              <a:gd name="connsiteX21" fmla="*/ 5747167 w 12192418"/>
              <a:gd name="connsiteY21" fmla="*/ 521259 h 5095933"/>
              <a:gd name="connsiteX22" fmla="*/ 5995877 w 12192418"/>
              <a:gd name="connsiteY22" fmla="*/ 525463 h 5095933"/>
              <a:gd name="connsiteX23" fmla="*/ 6247026 w 12192418"/>
              <a:gd name="connsiteY23" fmla="*/ 525463 h 5095933"/>
              <a:gd name="connsiteX24" fmla="*/ 6500613 w 12192418"/>
              <a:gd name="connsiteY24" fmla="*/ 527565 h 5095933"/>
              <a:gd name="connsiteX25" fmla="*/ 6756639 w 12192418"/>
              <a:gd name="connsiteY25" fmla="*/ 525463 h 5095933"/>
              <a:gd name="connsiteX26" fmla="*/ 7016322 w 12192418"/>
              <a:gd name="connsiteY26" fmla="*/ 521259 h 5095933"/>
              <a:gd name="connsiteX27" fmla="*/ 7276005 w 12192418"/>
              <a:gd name="connsiteY27" fmla="*/ 517406 h 5095933"/>
              <a:gd name="connsiteX28" fmla="*/ 7539345 w 12192418"/>
              <a:gd name="connsiteY28" fmla="*/ 508998 h 5095933"/>
              <a:gd name="connsiteX29" fmla="*/ 7805124 w 12192418"/>
              <a:gd name="connsiteY29" fmla="*/ 500241 h 5095933"/>
              <a:gd name="connsiteX30" fmla="*/ 8070903 w 12192418"/>
              <a:gd name="connsiteY30" fmla="*/ 490082 h 5095933"/>
              <a:gd name="connsiteX31" fmla="*/ 8339121 w 12192418"/>
              <a:gd name="connsiteY31" fmla="*/ 475719 h 5095933"/>
              <a:gd name="connsiteX32" fmla="*/ 8609776 w 12192418"/>
              <a:gd name="connsiteY32" fmla="*/ 458554 h 5095933"/>
              <a:gd name="connsiteX33" fmla="*/ 8881651 w 12192418"/>
              <a:gd name="connsiteY33" fmla="*/ 442089 h 5095933"/>
              <a:gd name="connsiteX34" fmla="*/ 9153526 w 12192418"/>
              <a:gd name="connsiteY34" fmla="*/ 421071 h 5095933"/>
              <a:gd name="connsiteX35" fmla="*/ 9429058 w 12192418"/>
              <a:gd name="connsiteY35" fmla="*/ 395849 h 5095933"/>
              <a:gd name="connsiteX36" fmla="*/ 9700933 w 12192418"/>
              <a:gd name="connsiteY36" fmla="*/ 370626 h 5095933"/>
              <a:gd name="connsiteX37" fmla="*/ 9977684 w 12192418"/>
              <a:gd name="connsiteY37" fmla="*/ 341551 h 5095933"/>
              <a:gd name="connsiteX38" fmla="*/ 10255655 w 12192418"/>
              <a:gd name="connsiteY38" fmla="*/ 309673 h 5095933"/>
              <a:gd name="connsiteX39" fmla="*/ 10529968 w 12192418"/>
              <a:gd name="connsiteY39" fmla="*/ 276043 h 5095933"/>
              <a:gd name="connsiteX40" fmla="*/ 10807939 w 12192418"/>
              <a:gd name="connsiteY40" fmla="*/ 236809 h 5095933"/>
              <a:gd name="connsiteX41" fmla="*/ 11084690 w 12192418"/>
              <a:gd name="connsiteY41" fmla="*/ 194772 h 5095933"/>
              <a:gd name="connsiteX42" fmla="*/ 11362661 w 12192418"/>
              <a:gd name="connsiteY42" fmla="*/ 153085 h 5095933"/>
              <a:gd name="connsiteX43" fmla="*/ 11639412 w 12192418"/>
              <a:gd name="connsiteY43" fmla="*/ 104392 h 5095933"/>
              <a:gd name="connsiteX44" fmla="*/ 11914945 w 12192418"/>
              <a:gd name="connsiteY44" fmla="*/ 54648 h 5095933"/>
              <a:gd name="connsiteX45" fmla="*/ 12191696 w 12192418"/>
              <a:gd name="connsiteY45" fmla="*/ 2452 h 5095933"/>
              <a:gd name="connsiteX46" fmla="*/ 12191696 w 12192418"/>
              <a:gd name="connsiteY46" fmla="*/ 2109542 h 5095933"/>
              <a:gd name="connsiteX47" fmla="*/ 12191999 w 12192418"/>
              <a:gd name="connsiteY47" fmla="*/ 2109542 h 5095933"/>
              <a:gd name="connsiteX48" fmla="*/ 12191999 w 12192418"/>
              <a:gd name="connsiteY48" fmla="*/ 2802467 h 5095933"/>
              <a:gd name="connsiteX49" fmla="*/ 12192418 w 12192418"/>
              <a:gd name="connsiteY49" fmla="*/ 2802467 h 5095933"/>
              <a:gd name="connsiteX50" fmla="*/ 12192418 w 12192418"/>
              <a:gd name="connsiteY50" fmla="*/ 5095933 h 5095933"/>
              <a:gd name="connsiteX51" fmla="*/ 1 w 12192418"/>
              <a:gd name="connsiteY51" fmla="*/ 5095933 h 5095933"/>
              <a:gd name="connsiteX52" fmla="*/ 1 w 12192418"/>
              <a:gd name="connsiteY52" fmla="*/ 4074529 h 5095933"/>
              <a:gd name="connsiteX53" fmla="*/ 0 w 12192418"/>
              <a:gd name="connsiteY53" fmla="*/ 4074529 h 5095933"/>
              <a:gd name="connsiteX54" fmla="*/ 0 w 12192418"/>
              <a:gd name="connsiteY54" fmla="*/ 2109542 h 5095933"/>
              <a:gd name="connsiteX55" fmla="*/ 1 w 12192418"/>
              <a:gd name="connsiteY55" fmla="*/ 2109542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12192418" h="5095933">
                <a:moveTo>
                  <a:pt x="1" y="0"/>
                </a:moveTo>
                <a:lnTo>
                  <a:pt x="71932" y="12261"/>
                </a:lnTo>
                <a:lnTo>
                  <a:pt x="282849" y="48343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4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7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2" y="514953"/>
                </a:lnTo>
                <a:lnTo>
                  <a:pt x="5747167" y="521259"/>
                </a:lnTo>
                <a:lnTo>
                  <a:pt x="5995877" y="525463"/>
                </a:lnTo>
                <a:lnTo>
                  <a:pt x="6247026" y="525463"/>
                </a:lnTo>
                <a:lnTo>
                  <a:pt x="6500613" y="527565"/>
                </a:lnTo>
                <a:lnTo>
                  <a:pt x="6756639" y="525463"/>
                </a:lnTo>
                <a:lnTo>
                  <a:pt x="7016322" y="521259"/>
                </a:lnTo>
                <a:lnTo>
                  <a:pt x="7276005" y="517406"/>
                </a:lnTo>
                <a:lnTo>
                  <a:pt x="7539345" y="508998"/>
                </a:lnTo>
                <a:lnTo>
                  <a:pt x="7805124" y="500241"/>
                </a:lnTo>
                <a:lnTo>
                  <a:pt x="8070903" y="490082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9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3"/>
                </a:lnTo>
                <a:lnTo>
                  <a:pt x="10529968" y="276043"/>
                </a:lnTo>
                <a:lnTo>
                  <a:pt x="10807939" y="236809"/>
                </a:lnTo>
                <a:lnTo>
                  <a:pt x="11084690" y="194772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109542"/>
                </a:lnTo>
                <a:lnTo>
                  <a:pt x="12191999" y="2109542"/>
                </a:lnTo>
                <a:lnTo>
                  <a:pt x="12191999" y="2802467"/>
                </a:lnTo>
                <a:lnTo>
                  <a:pt x="12192418" y="2802467"/>
                </a:lnTo>
                <a:lnTo>
                  <a:pt x="12192418" y="5095933"/>
                </a:lnTo>
                <a:lnTo>
                  <a:pt x="1" y="5095933"/>
                </a:lnTo>
                <a:lnTo>
                  <a:pt x="1" y="4074529"/>
                </a:lnTo>
                <a:lnTo>
                  <a:pt x="0" y="4074529"/>
                </a:lnTo>
                <a:lnTo>
                  <a:pt x="0" y="2109542"/>
                </a:lnTo>
                <a:lnTo>
                  <a:pt x="1" y="210954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126334B-9486-F5FD-ABA5-84E7E3529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6898338"/>
              </p:ext>
            </p:extLst>
          </p:nvPr>
        </p:nvGraphicFramePr>
        <p:xfrm>
          <a:off x="648930" y="2810256"/>
          <a:ext cx="10895370" cy="34042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1034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DA042C2F-0129-4433-AC8C-DFFCF0E32BB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graphicEl>
                                              <a:dgm id="{DA042C2F-0129-4433-AC8C-DFFCF0E32BB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D0C9594-CF6E-44D3-ACD0-59B94D2DA1F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graphicEl>
                                              <a:dgm id="{7D0C9594-CF6E-44D3-ACD0-59B94D2DA1F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A8F0667E-5DB8-4AB9-BBD9-3DB4CD1E5A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>
                                            <p:graphicEl>
                                              <a:dgm id="{A8F0667E-5DB8-4AB9-BBD9-3DB4CD1E5A5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814A005C-A483-4C9B-8FF4-41F1F35246C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>
                                            <p:graphicEl>
                                              <a:dgm id="{814A005C-A483-4C9B-8FF4-41F1F35246C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7B00563D-8E73-4CE6-B2A0-863A0BD76BA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>
                                            <p:graphicEl>
                                              <a:dgm id="{7B00563D-8E73-4CE6-B2A0-863A0BD76BA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graphicEl>
                                              <a:dgm id="{5FEA3E94-3C58-4A3F-8C58-ED67CE08677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>
                                            <p:graphicEl>
                                              <a:dgm id="{5FEA3E94-3C58-4A3F-8C58-ED67CE08677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DF0D-3C17-55C4-50D5-9A03BCE5C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Relationships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21574D-01AA-0D0B-82C1-505DE32CCB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3344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7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817155D-7DC6-4136-7966-8CD7105E3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46F0DD0-6ECD-8DE8-B0EF-00079A925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800" b="1" dirty="0"/>
              <a:t>One-to-Many (1:*)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Example: A company and its employees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u="sng" dirty="0"/>
              <a:t>One company</a:t>
            </a:r>
            <a:r>
              <a:rPr lang="en-US" dirty="0"/>
              <a:t> can have </a:t>
            </a:r>
            <a:r>
              <a:rPr lang="en-US" u="sng" dirty="0"/>
              <a:t>many employees</a:t>
            </a:r>
            <a:r>
              <a:rPr lang="en-US" dirty="0"/>
              <a:t>, but each employee works for only </a:t>
            </a:r>
            <a:r>
              <a:rPr lang="en-US" u="sng" dirty="0"/>
              <a:t>one company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8" name="Graphic 7" descr="Flowchart with solid fill">
            <a:extLst>
              <a:ext uri="{FF2B5EF4-FFF2-40B4-BE49-F238E27FC236}">
                <a16:creationId xmlns:a16="http://schemas.microsoft.com/office/drawing/2014/main" id="{435ADD1D-348E-F560-0BB4-310E08E83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6807922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C19E9-BD40-8C03-E957-2B152A673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E4E366E-272A-409E-840F-9A6A64A9E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21560C-E4AB-4287-A29C-3F6916794C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Freeform 7">
            <a:extLst>
              <a:ext uri="{FF2B5EF4-FFF2-40B4-BE49-F238E27FC236}">
                <a16:creationId xmlns:a16="http://schemas.microsoft.com/office/drawing/2014/main" id="{DF6CFF07-D953-4F9C-9A0E-E0A6AACB61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625ABF9-3BDB-1862-DD99-7727EFEF7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DAA4FEEE-0B5F-41BF-825D-60F9FB0895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5EE90B-1758-17D6-89AB-5A2EB3151C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5122606" cy="365868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800" b="1" dirty="0"/>
              <a:t>Many-to-One (*:1)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Example: Sales transactions and customers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b="1" dirty="0"/>
              <a:t>Many sales transactions </a:t>
            </a:r>
            <a:r>
              <a:rPr lang="en-US" dirty="0"/>
              <a:t>can be linked to a </a:t>
            </a:r>
            <a:r>
              <a:rPr lang="en-US" u="sng" dirty="0"/>
              <a:t>single</a:t>
            </a:r>
            <a:r>
              <a:rPr lang="en-US" dirty="0"/>
              <a:t> customer, but each sales transaction is associated with only </a:t>
            </a:r>
            <a:r>
              <a:rPr lang="en-US" u="sng" dirty="0"/>
              <a:t>one customer.</a:t>
            </a:r>
          </a:p>
          <a:p>
            <a:endParaRPr lang="en-US" dirty="0"/>
          </a:p>
        </p:txBody>
      </p:sp>
      <p:pic>
        <p:nvPicPr>
          <p:cNvPr id="2" name="Graphic 1" descr="Flowchart with solid fill">
            <a:extLst>
              <a:ext uri="{FF2B5EF4-FFF2-40B4-BE49-F238E27FC236}">
                <a16:creationId xmlns:a16="http://schemas.microsoft.com/office/drawing/2014/main" id="{041158B9-CA4A-B37E-A990-7AA7AC22FB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8392409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433E96-13D2-3BDC-ABFB-C9CCC2DA8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04A3DA6D-FED2-4369-9ACD-B578C8790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63C72DE-4C01-4F6C-9020-327690ADA8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6" name="Freeform 7">
            <a:extLst>
              <a:ext uri="{FF2B5EF4-FFF2-40B4-BE49-F238E27FC236}">
                <a16:creationId xmlns:a16="http://schemas.microsoft.com/office/drawing/2014/main" id="{5627181E-8B3E-4EFB-8F43-17296B86C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351450-101A-C887-F654-82AFEDAB12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7"/>
            <a:ext cx="9252154" cy="1016654"/>
          </a:xfrm>
        </p:spPr>
        <p:txBody>
          <a:bodyPr>
            <a:normAutofit/>
          </a:bodyPr>
          <a:lstStyle/>
          <a:p>
            <a:endParaRPr lang="en-US">
              <a:solidFill>
                <a:srgbClr val="EBEBEB"/>
              </a:solidFill>
            </a:endParaRPr>
          </a:p>
        </p:txBody>
      </p:sp>
      <p:sp useBgFill="1">
        <p:nvSpPr>
          <p:cNvPr id="28" name="Freeform: Shape 27">
            <a:extLst>
              <a:ext uri="{FF2B5EF4-FFF2-40B4-BE49-F238E27FC236}">
                <a16:creationId xmlns:a16="http://schemas.microsoft.com/office/drawing/2014/main" id="{2E45DBDE-EAD7-4DEE-B77D-577BBB0A1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50A6CC-1E28-4BCD-568A-B607F2710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548281"/>
            <a:ext cx="6578592" cy="3658689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800" b="1" dirty="0"/>
              <a:t>One-to-One (1:1)</a:t>
            </a:r>
            <a:endParaRPr lang="en-US" sz="2800" dirty="0"/>
          </a:p>
          <a:p>
            <a:pPr marL="742950" lvl="1" indent="-285750">
              <a:buFont typeface="+mj-lt"/>
              <a:buAutoNum type="arabicPeriod"/>
            </a:pPr>
            <a:r>
              <a:rPr lang="en-US" b="1" dirty="0"/>
              <a:t>Example: A business and its tax identification number (TIN)</a:t>
            </a:r>
            <a:endParaRPr lang="en-US" dirty="0"/>
          </a:p>
          <a:p>
            <a:pPr marL="1143000" lvl="2" indent="-228600">
              <a:buFont typeface="+mj-lt"/>
              <a:buAutoNum type="arabicPeriod"/>
            </a:pPr>
            <a:r>
              <a:rPr lang="en-US" dirty="0"/>
              <a:t>Each business has a unique tax identification number, and each TIN is assigned to only one business.</a:t>
            </a:r>
          </a:p>
          <a:p>
            <a:endParaRPr lang="en-US" dirty="0"/>
          </a:p>
        </p:txBody>
      </p:sp>
      <p:pic>
        <p:nvPicPr>
          <p:cNvPr id="17" name="Graphic 16" descr="Boardroom with solid fill">
            <a:extLst>
              <a:ext uri="{FF2B5EF4-FFF2-40B4-BE49-F238E27FC236}">
                <a16:creationId xmlns:a16="http://schemas.microsoft.com/office/drawing/2014/main" id="{51CFF4C1-66B5-D086-3893-E00975AA4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16223" y="2548281"/>
            <a:ext cx="3662018" cy="366201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6810550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C9D25-F262-8590-50FD-DF4F3C4AB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10049FB-9EB9-40A5-B47A-F88DBA1048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1" y="1762067"/>
            <a:ext cx="12192417" cy="5095933"/>
          </a:xfrm>
          <a:custGeom>
            <a:avLst/>
            <a:gdLst>
              <a:gd name="connsiteX0" fmla="*/ 0 w 12192417"/>
              <a:gd name="connsiteY0" fmla="*/ 0 h 5095933"/>
              <a:gd name="connsiteX1" fmla="*/ 71931 w 12192417"/>
              <a:gd name="connsiteY1" fmla="*/ 12261 h 5095933"/>
              <a:gd name="connsiteX2" fmla="*/ 282848 w 12192417"/>
              <a:gd name="connsiteY2" fmla="*/ 48343 h 5095933"/>
              <a:gd name="connsiteX3" fmla="*/ 436463 w 12192417"/>
              <a:gd name="connsiteY3" fmla="*/ 73565 h 5095933"/>
              <a:gd name="connsiteX4" fmla="*/ 619338 w 12192417"/>
              <a:gd name="connsiteY4" fmla="*/ 100188 h 5095933"/>
              <a:gd name="connsiteX5" fmla="*/ 836350 w 12192417"/>
              <a:gd name="connsiteY5" fmla="*/ 132066 h 5095933"/>
              <a:gd name="connsiteX6" fmla="*/ 1076527 w 12192417"/>
              <a:gd name="connsiteY6" fmla="*/ 165696 h 5095933"/>
              <a:gd name="connsiteX7" fmla="*/ 1347183 w 12192417"/>
              <a:gd name="connsiteY7" fmla="*/ 201077 h 5095933"/>
              <a:gd name="connsiteX8" fmla="*/ 1642222 w 12192417"/>
              <a:gd name="connsiteY8" fmla="*/ 238560 h 5095933"/>
              <a:gd name="connsiteX9" fmla="*/ 1962863 w 12192417"/>
              <a:gd name="connsiteY9" fmla="*/ 276043 h 5095933"/>
              <a:gd name="connsiteX10" fmla="*/ 2304231 w 12192417"/>
              <a:gd name="connsiteY10" fmla="*/ 314227 h 5095933"/>
              <a:gd name="connsiteX11" fmla="*/ 2672420 w 12192417"/>
              <a:gd name="connsiteY11" fmla="*/ 349608 h 5095933"/>
              <a:gd name="connsiteX12" fmla="*/ 3057677 w 12192417"/>
              <a:gd name="connsiteY12" fmla="*/ 383588 h 5095933"/>
              <a:gd name="connsiteX13" fmla="*/ 3464880 w 12192417"/>
              <a:gd name="connsiteY13" fmla="*/ 414415 h 5095933"/>
              <a:gd name="connsiteX14" fmla="*/ 3889151 w 12192417"/>
              <a:gd name="connsiteY14" fmla="*/ 443841 h 5095933"/>
              <a:gd name="connsiteX15" fmla="*/ 4331709 w 12192417"/>
              <a:gd name="connsiteY15" fmla="*/ 471515 h 5095933"/>
              <a:gd name="connsiteX16" fmla="*/ 4558475 w 12192417"/>
              <a:gd name="connsiteY16" fmla="*/ 481324 h 5095933"/>
              <a:gd name="connsiteX17" fmla="*/ 4790117 w 12192417"/>
              <a:gd name="connsiteY17" fmla="*/ 492183 h 5095933"/>
              <a:gd name="connsiteX18" fmla="*/ 5025417 w 12192417"/>
              <a:gd name="connsiteY18" fmla="*/ 502342 h 5095933"/>
              <a:gd name="connsiteX19" fmla="*/ 5261936 w 12192417"/>
              <a:gd name="connsiteY19" fmla="*/ 508998 h 5095933"/>
              <a:gd name="connsiteX20" fmla="*/ 5503331 w 12192417"/>
              <a:gd name="connsiteY20" fmla="*/ 514953 h 5095933"/>
              <a:gd name="connsiteX21" fmla="*/ 5747166 w 12192417"/>
              <a:gd name="connsiteY21" fmla="*/ 521259 h 5095933"/>
              <a:gd name="connsiteX22" fmla="*/ 5995876 w 12192417"/>
              <a:gd name="connsiteY22" fmla="*/ 525463 h 5095933"/>
              <a:gd name="connsiteX23" fmla="*/ 6247025 w 12192417"/>
              <a:gd name="connsiteY23" fmla="*/ 525463 h 5095933"/>
              <a:gd name="connsiteX24" fmla="*/ 6500612 w 12192417"/>
              <a:gd name="connsiteY24" fmla="*/ 527565 h 5095933"/>
              <a:gd name="connsiteX25" fmla="*/ 6756638 w 12192417"/>
              <a:gd name="connsiteY25" fmla="*/ 525463 h 5095933"/>
              <a:gd name="connsiteX26" fmla="*/ 7016321 w 12192417"/>
              <a:gd name="connsiteY26" fmla="*/ 521259 h 5095933"/>
              <a:gd name="connsiteX27" fmla="*/ 7276004 w 12192417"/>
              <a:gd name="connsiteY27" fmla="*/ 517406 h 5095933"/>
              <a:gd name="connsiteX28" fmla="*/ 7539344 w 12192417"/>
              <a:gd name="connsiteY28" fmla="*/ 508998 h 5095933"/>
              <a:gd name="connsiteX29" fmla="*/ 7805123 w 12192417"/>
              <a:gd name="connsiteY29" fmla="*/ 500241 h 5095933"/>
              <a:gd name="connsiteX30" fmla="*/ 8070902 w 12192417"/>
              <a:gd name="connsiteY30" fmla="*/ 490082 h 5095933"/>
              <a:gd name="connsiteX31" fmla="*/ 8339120 w 12192417"/>
              <a:gd name="connsiteY31" fmla="*/ 475719 h 5095933"/>
              <a:gd name="connsiteX32" fmla="*/ 8609775 w 12192417"/>
              <a:gd name="connsiteY32" fmla="*/ 458554 h 5095933"/>
              <a:gd name="connsiteX33" fmla="*/ 8881650 w 12192417"/>
              <a:gd name="connsiteY33" fmla="*/ 442089 h 5095933"/>
              <a:gd name="connsiteX34" fmla="*/ 9153525 w 12192417"/>
              <a:gd name="connsiteY34" fmla="*/ 421071 h 5095933"/>
              <a:gd name="connsiteX35" fmla="*/ 9429057 w 12192417"/>
              <a:gd name="connsiteY35" fmla="*/ 395849 h 5095933"/>
              <a:gd name="connsiteX36" fmla="*/ 9700932 w 12192417"/>
              <a:gd name="connsiteY36" fmla="*/ 370626 h 5095933"/>
              <a:gd name="connsiteX37" fmla="*/ 9977683 w 12192417"/>
              <a:gd name="connsiteY37" fmla="*/ 341551 h 5095933"/>
              <a:gd name="connsiteX38" fmla="*/ 10255654 w 12192417"/>
              <a:gd name="connsiteY38" fmla="*/ 309673 h 5095933"/>
              <a:gd name="connsiteX39" fmla="*/ 10529967 w 12192417"/>
              <a:gd name="connsiteY39" fmla="*/ 276043 h 5095933"/>
              <a:gd name="connsiteX40" fmla="*/ 10807938 w 12192417"/>
              <a:gd name="connsiteY40" fmla="*/ 236809 h 5095933"/>
              <a:gd name="connsiteX41" fmla="*/ 11084689 w 12192417"/>
              <a:gd name="connsiteY41" fmla="*/ 194772 h 5095933"/>
              <a:gd name="connsiteX42" fmla="*/ 11362660 w 12192417"/>
              <a:gd name="connsiteY42" fmla="*/ 153085 h 5095933"/>
              <a:gd name="connsiteX43" fmla="*/ 11639411 w 12192417"/>
              <a:gd name="connsiteY43" fmla="*/ 104392 h 5095933"/>
              <a:gd name="connsiteX44" fmla="*/ 11914944 w 12192417"/>
              <a:gd name="connsiteY44" fmla="*/ 54648 h 5095933"/>
              <a:gd name="connsiteX45" fmla="*/ 12191695 w 12192417"/>
              <a:gd name="connsiteY45" fmla="*/ 2452 h 5095933"/>
              <a:gd name="connsiteX46" fmla="*/ 12191695 w 12192417"/>
              <a:gd name="connsiteY46" fmla="*/ 2162231 h 5095933"/>
              <a:gd name="connsiteX47" fmla="*/ 12192417 w 12192417"/>
              <a:gd name="connsiteY47" fmla="*/ 2162231 h 5095933"/>
              <a:gd name="connsiteX48" fmla="*/ 12192417 w 12192417"/>
              <a:gd name="connsiteY48" fmla="*/ 5095933 h 5095933"/>
              <a:gd name="connsiteX49" fmla="*/ 0 w 12192417"/>
              <a:gd name="connsiteY49" fmla="*/ 5095933 h 5095933"/>
              <a:gd name="connsiteX50" fmla="*/ 0 w 12192417"/>
              <a:gd name="connsiteY50" fmla="*/ 2791958 h 5095933"/>
              <a:gd name="connsiteX51" fmla="*/ 0 w 12192417"/>
              <a:gd name="connsiteY51" fmla="*/ 2162231 h 5095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417" h="5095933">
                <a:moveTo>
                  <a:pt x="0" y="0"/>
                </a:moveTo>
                <a:lnTo>
                  <a:pt x="71931" y="12261"/>
                </a:lnTo>
                <a:lnTo>
                  <a:pt x="282848" y="48343"/>
                </a:lnTo>
                <a:lnTo>
                  <a:pt x="436463" y="73565"/>
                </a:lnTo>
                <a:lnTo>
                  <a:pt x="619338" y="100188"/>
                </a:lnTo>
                <a:lnTo>
                  <a:pt x="836350" y="132066"/>
                </a:lnTo>
                <a:lnTo>
                  <a:pt x="1076527" y="165696"/>
                </a:lnTo>
                <a:lnTo>
                  <a:pt x="1347183" y="201077"/>
                </a:lnTo>
                <a:lnTo>
                  <a:pt x="1642222" y="238560"/>
                </a:lnTo>
                <a:lnTo>
                  <a:pt x="1962863" y="276043"/>
                </a:lnTo>
                <a:lnTo>
                  <a:pt x="2304231" y="314227"/>
                </a:lnTo>
                <a:lnTo>
                  <a:pt x="2672420" y="349608"/>
                </a:lnTo>
                <a:lnTo>
                  <a:pt x="3057677" y="383588"/>
                </a:lnTo>
                <a:lnTo>
                  <a:pt x="3464880" y="414415"/>
                </a:lnTo>
                <a:lnTo>
                  <a:pt x="3889151" y="443841"/>
                </a:lnTo>
                <a:lnTo>
                  <a:pt x="4331709" y="471515"/>
                </a:lnTo>
                <a:lnTo>
                  <a:pt x="4558475" y="481324"/>
                </a:lnTo>
                <a:lnTo>
                  <a:pt x="4790117" y="492183"/>
                </a:lnTo>
                <a:lnTo>
                  <a:pt x="5025417" y="502342"/>
                </a:lnTo>
                <a:lnTo>
                  <a:pt x="5261936" y="508998"/>
                </a:lnTo>
                <a:lnTo>
                  <a:pt x="5503331" y="514953"/>
                </a:lnTo>
                <a:lnTo>
                  <a:pt x="5747166" y="521259"/>
                </a:lnTo>
                <a:lnTo>
                  <a:pt x="5995876" y="525463"/>
                </a:lnTo>
                <a:lnTo>
                  <a:pt x="6247025" y="525463"/>
                </a:lnTo>
                <a:lnTo>
                  <a:pt x="6500612" y="527565"/>
                </a:lnTo>
                <a:lnTo>
                  <a:pt x="6756638" y="525463"/>
                </a:lnTo>
                <a:lnTo>
                  <a:pt x="7016321" y="521259"/>
                </a:lnTo>
                <a:lnTo>
                  <a:pt x="7276004" y="517406"/>
                </a:lnTo>
                <a:lnTo>
                  <a:pt x="7539344" y="508998"/>
                </a:lnTo>
                <a:lnTo>
                  <a:pt x="7805123" y="500241"/>
                </a:lnTo>
                <a:lnTo>
                  <a:pt x="8070902" y="490082"/>
                </a:lnTo>
                <a:lnTo>
                  <a:pt x="8339120" y="475719"/>
                </a:lnTo>
                <a:lnTo>
                  <a:pt x="8609775" y="458554"/>
                </a:lnTo>
                <a:lnTo>
                  <a:pt x="8881650" y="442089"/>
                </a:lnTo>
                <a:lnTo>
                  <a:pt x="9153525" y="421071"/>
                </a:lnTo>
                <a:lnTo>
                  <a:pt x="9429057" y="395849"/>
                </a:lnTo>
                <a:lnTo>
                  <a:pt x="9700932" y="370626"/>
                </a:lnTo>
                <a:lnTo>
                  <a:pt x="9977683" y="341551"/>
                </a:lnTo>
                <a:lnTo>
                  <a:pt x="10255654" y="309673"/>
                </a:lnTo>
                <a:lnTo>
                  <a:pt x="10529967" y="276043"/>
                </a:lnTo>
                <a:lnTo>
                  <a:pt x="10807938" y="236809"/>
                </a:lnTo>
                <a:lnTo>
                  <a:pt x="11084689" y="194772"/>
                </a:lnTo>
                <a:lnTo>
                  <a:pt x="11362660" y="153085"/>
                </a:lnTo>
                <a:lnTo>
                  <a:pt x="11639411" y="104392"/>
                </a:lnTo>
                <a:lnTo>
                  <a:pt x="11914944" y="54648"/>
                </a:lnTo>
                <a:lnTo>
                  <a:pt x="12191695" y="2452"/>
                </a:lnTo>
                <a:lnTo>
                  <a:pt x="12191695" y="2162231"/>
                </a:lnTo>
                <a:lnTo>
                  <a:pt x="12192417" y="2162231"/>
                </a:lnTo>
                <a:lnTo>
                  <a:pt x="12192417" y="5095933"/>
                </a:lnTo>
                <a:lnTo>
                  <a:pt x="0" y="5095933"/>
                </a:lnTo>
                <a:lnTo>
                  <a:pt x="0" y="2791958"/>
                </a:lnTo>
                <a:lnTo>
                  <a:pt x="0" y="216223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9053E132-12E5-44D2-AA0E-9353E65AC0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1460230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53FDBE1-A94C-CBF6-2D18-7A443717F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80711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31F32D-93D1-0185-1402-DF423A96B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855" y="2548281"/>
            <a:ext cx="5114093" cy="365438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Many-to-Many (</a:t>
            </a:r>
            <a:r>
              <a:rPr lang="en-US" sz="2800" b="1" i="1" dirty="0">
                <a:solidFill>
                  <a:schemeClr val="bg1"/>
                </a:solidFill>
              </a:rPr>
              <a:t>:</a:t>
            </a:r>
            <a:r>
              <a:rPr lang="en-US" sz="2800" b="1" dirty="0">
                <a:solidFill>
                  <a:schemeClr val="bg1"/>
                </a:solidFill>
              </a:rPr>
              <a:t>)</a:t>
            </a:r>
            <a:endParaRPr lang="en-US" sz="2800" dirty="0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en-US" b="1" dirty="0">
                <a:solidFill>
                  <a:schemeClr val="bg1"/>
                </a:solidFill>
              </a:rPr>
              <a:t>Example: Suppliers and products</a:t>
            </a:r>
            <a:endParaRPr lang="en-US" dirty="0">
              <a:solidFill>
                <a:schemeClr val="bg1"/>
              </a:solidFill>
            </a:endParaRPr>
          </a:p>
          <a:p>
            <a:pPr marL="914400" lvl="2" indent="0">
              <a:buNone/>
            </a:pPr>
            <a:r>
              <a:rPr lang="en-US" dirty="0">
                <a:solidFill>
                  <a:schemeClr val="bg1"/>
                </a:solidFill>
              </a:rPr>
              <a:t>A product can be supplied by multiple suppliers, and a supplier can provide multiple products.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3" name="Graphic 2" descr="Group with solid fill">
            <a:extLst>
              <a:ext uri="{FF2B5EF4-FFF2-40B4-BE49-F238E27FC236}">
                <a16:creationId xmlns:a16="http://schemas.microsoft.com/office/drawing/2014/main" id="{095F91A5-AEB3-07D2-7239-8A2BD28EBA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1917" y="3065369"/>
            <a:ext cx="2627842" cy="2627842"/>
          </a:xfrm>
          <a:prstGeom prst="rect">
            <a:avLst/>
          </a:prstGeom>
          <a:effectLst/>
        </p:spPr>
      </p:pic>
      <p:pic>
        <p:nvPicPr>
          <p:cNvPr id="7" name="Graphic 6" descr="Children with solid fill">
            <a:extLst>
              <a:ext uri="{FF2B5EF4-FFF2-40B4-BE49-F238E27FC236}">
                <a16:creationId xmlns:a16="http://schemas.microsoft.com/office/drawing/2014/main" id="{EE085930-BDA7-5F1A-CEA1-A057C6788A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15701" y="3065369"/>
            <a:ext cx="2627842" cy="2627842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5607193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73</TotalTime>
  <Words>269</Words>
  <Application>Microsoft Office PowerPoint</Application>
  <PresentationFormat>Widescreen</PresentationFormat>
  <Paragraphs>29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Century Gothic</vt:lpstr>
      <vt:lpstr>Wingdings 3</vt:lpstr>
      <vt:lpstr>Ion</vt:lpstr>
      <vt:lpstr>Modeling &amp; Relationships</vt:lpstr>
      <vt:lpstr>Why Create Relationships?</vt:lpstr>
      <vt:lpstr>Why Create Relationships?</vt:lpstr>
      <vt:lpstr>Why Create Relationships?</vt:lpstr>
      <vt:lpstr>Why Create Relationships?</vt:lpstr>
      <vt:lpstr>Types of Relationships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Casuto</dc:creator>
  <cp:lastModifiedBy>David Casuto</cp:lastModifiedBy>
  <cp:revision>3</cp:revision>
  <dcterms:created xsi:type="dcterms:W3CDTF">2025-03-24T14:01:47Z</dcterms:created>
  <dcterms:modified xsi:type="dcterms:W3CDTF">2025-03-24T15:14:51Z</dcterms:modified>
</cp:coreProperties>
</file>